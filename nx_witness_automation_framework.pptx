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78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20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28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8.png"/><Relationship Id="rId10" Type="http://schemas.openxmlformats.org/officeDocument/2006/relationships/image" Target="../media/image47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9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9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2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29.png"/><Relationship Id="rId9" Type="http://schemas.openxmlformats.org/officeDocument/2006/relationships/image" Target="../media/image79.png"/><Relationship Id="rId1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4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9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8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6.png"/><Relationship Id="rId5" Type="http://schemas.openxmlformats.org/officeDocument/2006/relationships/image" Target="../media/image91.png"/><Relationship Id="rId10" Type="http://schemas.openxmlformats.org/officeDocument/2006/relationships/image" Target="../media/image95.png"/><Relationship Id="rId4" Type="http://schemas.openxmlformats.org/officeDocument/2006/relationships/image" Target="../media/image90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42.png"/><Relationship Id="rId10" Type="http://schemas.openxmlformats.org/officeDocument/2006/relationships/image" Target="../media/image20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0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18.png"/><Relationship Id="rId5" Type="http://schemas.openxmlformats.org/officeDocument/2006/relationships/image" Target="../media/image114.png"/><Relationship Id="rId10" Type="http://schemas.openxmlformats.org/officeDocument/2006/relationships/image" Target="../media/image117.png"/><Relationship Id="rId4" Type="http://schemas.openxmlformats.org/officeDocument/2006/relationships/image" Target="../media/image113.png"/><Relationship Id="rId9" Type="http://schemas.openxmlformats.org/officeDocument/2006/relationships/image" Target="../media/image102.png"/><Relationship Id="rId1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9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121.png"/><Relationship Id="rId10" Type="http://schemas.openxmlformats.org/officeDocument/2006/relationships/image" Target="../media/image20.png"/><Relationship Id="rId4" Type="http://schemas.openxmlformats.org/officeDocument/2006/relationships/image" Target="../media/image84.png"/><Relationship Id="rId9" Type="http://schemas.openxmlformats.org/officeDocument/2006/relationships/image" Target="../media/image1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28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53905" y="2419502"/>
            <a:ext cx="243870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9753905" y="0"/>
            <a:ext cx="19202" cy="24387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0" y="3200400"/>
            <a:ext cx="36576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638398" y="3200400"/>
            <a:ext cx="19202" cy="36576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0" y="631484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 txBox="1"/>
          <p:nvPr/>
        </p:nvSpPr>
        <p:spPr>
          <a:xfrm>
            <a:off x="564185" y="6476695"/>
            <a:ext cx="2358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© 2026 NX WITNESS AUTOMATION TEAM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820302" y="6476695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2026-02-05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0107" y="6495898"/>
            <a:ext cx="114300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401861" y="6476695"/>
            <a:ext cx="23445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CONFIDENTIAL // INTERNAL USE ONLY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204411" y="346558"/>
            <a:ext cx="3791102" cy="3246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01 - 04 Implementation Complete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" y="974750"/>
            <a:ext cx="992581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Nx Witness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35" dirty="0">
                <a:solidFill>
                  <a:srgbClr val="3B82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自動化測試框架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1123798" y="2841955"/>
            <a:ext cx="994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56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跨平台一致性測試解決方案</a:t>
            </a:r>
            <a:endParaRPr lang="en-US" sz="2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413" b="-413"/>
          <a:stretch/>
        </p:blipFill>
        <p:spPr>
          <a:xfrm>
            <a:off x="5486400" y="3642055"/>
            <a:ext cx="1218895" cy="576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218895" y="4232758"/>
            <a:ext cx="97539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4"/>
          <p:cNvSpPr/>
          <p:nvPr/>
        </p:nvSpPr>
        <p:spPr>
          <a:xfrm>
            <a:off x="1218895" y="4623206"/>
            <a:ext cx="2266798" cy="1895551"/>
          </a:xfrm>
          <a:prstGeom prst="roundRect">
            <a:avLst>
              <a:gd name="adj" fmla="val 29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5"/>
          <p:cNvSpPr txBox="1"/>
          <p:nvPr/>
        </p:nvSpPr>
        <p:spPr>
          <a:xfrm>
            <a:off x="1457554" y="5280660"/>
            <a:ext cx="1933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全棧架構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457554" y="5623560"/>
            <a:ext cx="18626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改良型 POM 設計與高度解耦的 Actions 驅動層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715207" y="4623206"/>
            <a:ext cx="2266798" cy="1895551"/>
          </a:xfrm>
          <a:prstGeom prst="roundRect">
            <a:avLst>
              <a:gd name="adj" fmla="val 29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8"/>
          <p:cNvSpPr txBox="1"/>
          <p:nvPr/>
        </p:nvSpPr>
        <p:spPr>
          <a:xfrm>
            <a:off x="3952951" y="5280660"/>
            <a:ext cx="1933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跨平台整合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952951" y="5623560"/>
            <a:ext cx="186263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Desktop (Qt), Web (Selenium), Mobile (ADB) 統一管理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10605" y="4623206"/>
            <a:ext cx="2266798" cy="1895551"/>
          </a:xfrm>
          <a:prstGeom prst="roundRect">
            <a:avLst>
              <a:gd name="adj" fmla="val 29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1"/>
          <p:cNvSpPr txBox="1"/>
          <p:nvPr/>
        </p:nvSpPr>
        <p:spPr>
          <a:xfrm>
            <a:off x="6448349" y="5280660"/>
            <a:ext cx="1933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視覺算法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448349" y="5623560"/>
            <a:ext cx="18626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OpenCV 模板匹配、SSIM 穩定性分析與 OCR 識別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706002" y="4623206"/>
            <a:ext cx="2266798" cy="1895551"/>
          </a:xfrm>
          <a:prstGeom prst="roundRect">
            <a:avLst>
              <a:gd name="adj" fmla="val 29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4"/>
          <p:cNvSpPr txBox="1"/>
          <p:nvPr/>
        </p:nvSpPr>
        <p:spPr>
          <a:xfrm>
            <a:off x="8943746" y="5280660"/>
            <a:ext cx="1933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智能增強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8943746" y="5623560"/>
            <a:ext cx="18626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VLM 語義理解與自癒機制，提升測試穩定性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457554" y="4908499"/>
            <a:ext cx="256946" cy="228600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3952951" y="4908499"/>
            <a:ext cx="286207" cy="228600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6448349" y="4908499"/>
            <a:ext cx="256946" cy="228600"/>
          </a:xfrm>
          <a:prstGeom prst="rect">
            <a:avLst/>
          </a:prstGeom>
        </p:spPr>
      </p:pic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8943746" y="4908499"/>
            <a:ext cx="256946" cy="228600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09905" y="457200"/>
            <a:ext cx="381305" cy="38130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80644" y="457200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1067105" y="476402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 Witness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1067105" y="666598"/>
            <a:ext cx="838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2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847649"/>
            <a:ext cx="3657600" cy="5562295"/>
          </a:xfrm>
          <a:prstGeom prst="roundRect">
            <a:avLst>
              <a:gd name="adj" fmla="val 104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694944" y="1086307"/>
            <a:ext cx="38405" cy="19019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 txBox="1"/>
          <p:nvPr/>
        </p:nvSpPr>
        <p:spPr>
          <a:xfrm>
            <a:off x="847649" y="1086307"/>
            <a:ext cx="31437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Project Scale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1505102"/>
            <a:ext cx="11475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162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1891894" y="185714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Modules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2391156"/>
            <a:ext cx="15307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</a:rPr>
              <a:t>7</a:t>
            </a:r>
            <a:r>
              <a:rPr lang="en-US" altLang="zh-CN" sz="4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</a:rPr>
              <a:t>K+</a:t>
            </a:r>
            <a:endParaRPr lang="en-US" sz="4500" dirty="0"/>
          </a:p>
        </p:txBody>
      </p:sp>
      <p:sp>
        <p:nvSpPr>
          <p:cNvPr id="10" name="Text 7"/>
          <p:cNvSpPr txBox="1"/>
          <p:nvPr/>
        </p:nvSpPr>
        <p:spPr>
          <a:xfrm>
            <a:off x="1890980" y="2553005"/>
            <a:ext cx="100492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3276295"/>
            <a:ext cx="4288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9"/>
          <p:cNvSpPr txBox="1"/>
          <p:nvPr/>
        </p:nvSpPr>
        <p:spPr>
          <a:xfrm>
            <a:off x="1196035" y="3629254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Platforms (Desktop/Web/Mobile)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" y="5533949"/>
            <a:ext cx="31811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694944" y="5772607"/>
            <a:ext cx="1933956" cy="400507"/>
          </a:xfrm>
          <a:prstGeom prst="roundRect">
            <a:avLst>
              <a:gd name="adj" fmla="val 4348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5896051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23798" y="5772607"/>
            <a:ext cx="14008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19295" y="847649"/>
            <a:ext cx="7315200" cy="3219602"/>
          </a:xfrm>
          <a:prstGeom prst="roundRect">
            <a:avLst>
              <a:gd name="adj" fmla="val 134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4"/>
          <p:cNvSpPr/>
          <p:nvPr/>
        </p:nvSpPr>
        <p:spPr>
          <a:xfrm>
            <a:off x="4657954" y="1086307"/>
            <a:ext cx="38405" cy="19019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 txBox="1"/>
          <p:nvPr/>
        </p:nvSpPr>
        <p:spPr>
          <a:xfrm>
            <a:off x="4810658" y="1086307"/>
            <a:ext cx="68013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A78B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57954" y="1429207"/>
            <a:ext cx="2180844" cy="1123798"/>
          </a:xfrm>
          <a:prstGeom prst="roundRect">
            <a:avLst>
              <a:gd name="adj" fmla="val 827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 txBox="1"/>
          <p:nvPr/>
        </p:nvSpPr>
        <p:spPr>
          <a:xfrm>
            <a:off x="4819802" y="1971446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819802" y="2238451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987845" y="1429207"/>
            <a:ext cx="2180844" cy="1123798"/>
          </a:xfrm>
          <a:prstGeom prst="roundRect">
            <a:avLst>
              <a:gd name="adj" fmla="val 827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 txBox="1"/>
          <p:nvPr/>
        </p:nvSpPr>
        <p:spPr>
          <a:xfrm>
            <a:off x="7149694" y="1971446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Selenium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149694" y="2238451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Web Automation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318650" y="1429207"/>
            <a:ext cx="2180844" cy="1123798"/>
          </a:xfrm>
          <a:prstGeom prst="roundRect">
            <a:avLst>
              <a:gd name="adj" fmla="val 827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 txBox="1"/>
          <p:nvPr/>
        </p:nvSpPr>
        <p:spPr>
          <a:xfrm>
            <a:off x="9480499" y="1971446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OpenCV + VLM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9480499" y="2238451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 Engine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57954" y="2704795"/>
            <a:ext cx="2180844" cy="1123798"/>
          </a:xfrm>
          <a:prstGeom prst="roundRect">
            <a:avLst>
              <a:gd name="adj" fmla="val 827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 txBox="1"/>
          <p:nvPr/>
        </p:nvSpPr>
        <p:spPr>
          <a:xfrm>
            <a:off x="4819802" y="3247949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Pure ADB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4819802" y="3514954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Mobile Control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987845" y="2704795"/>
            <a:ext cx="2180844" cy="1123798"/>
          </a:xfrm>
          <a:prstGeom prst="roundRect">
            <a:avLst>
              <a:gd name="adj" fmla="val 827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9"/>
          <p:cNvSpPr txBox="1"/>
          <p:nvPr/>
        </p:nvSpPr>
        <p:spPr>
          <a:xfrm>
            <a:off x="7149694" y="3247949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PaddleOCR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7149694" y="3514954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Text Recognition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9318650" y="2704795"/>
            <a:ext cx="2180844" cy="1123798"/>
          </a:xfrm>
          <a:prstGeom prst="roundRect">
            <a:avLst>
              <a:gd name="adj" fmla="val 827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2"/>
          <p:cNvSpPr txBox="1"/>
          <p:nvPr/>
        </p:nvSpPr>
        <p:spPr>
          <a:xfrm>
            <a:off x="9480499" y="3247949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PyAutoGUI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9480499" y="3514954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Desktop I/O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419295" y="4295851"/>
            <a:ext cx="2286000" cy="2115007"/>
          </a:xfrm>
          <a:prstGeom prst="roundRect">
            <a:avLst>
              <a:gd name="adj" fmla="val 31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 t="-530" b="-530"/>
          <a:stretch/>
        </p:blipFill>
        <p:spPr>
          <a:xfrm>
            <a:off x="5438851" y="4695444"/>
            <a:ext cx="247802" cy="286207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146243" y="5296205"/>
            <a:ext cx="838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80%</a:t>
            </a:r>
            <a:endParaRPr lang="en-US" sz="2700" dirty="0"/>
          </a:p>
        </p:txBody>
      </p:sp>
      <p:sp>
        <p:nvSpPr>
          <p:cNvPr id="41" name="Text 36"/>
          <p:cNvSpPr txBox="1"/>
          <p:nvPr/>
        </p:nvSpPr>
        <p:spPr>
          <a:xfrm>
            <a:off x="5148986" y="5753405"/>
            <a:ext cx="8302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5002682" y="6019495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 Manual Testing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933895" y="4295851"/>
            <a:ext cx="2286000" cy="2115007"/>
          </a:xfrm>
          <a:prstGeom prst="roundRect">
            <a:avLst>
              <a:gd name="adj" fmla="val 31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34249" y="4695444"/>
            <a:ext cx="286207" cy="286207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7660843" y="5296205"/>
            <a:ext cx="838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95%</a:t>
            </a:r>
            <a:endParaRPr lang="en-US" sz="2700" dirty="0"/>
          </a:p>
        </p:txBody>
      </p:sp>
      <p:sp>
        <p:nvSpPr>
          <p:cNvPr id="46" name="Text 40"/>
          <p:cNvSpPr txBox="1"/>
          <p:nvPr/>
        </p:nvSpPr>
        <p:spPr>
          <a:xfrm>
            <a:off x="7450531" y="5753405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Defect Detection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7630668" y="6019495"/>
            <a:ext cx="896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High Accuracy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9448495" y="4295851"/>
            <a:ext cx="2286000" cy="2115007"/>
          </a:xfrm>
          <a:prstGeom prst="roundRect">
            <a:avLst>
              <a:gd name="adj" fmla="val 31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48849" y="4695444"/>
            <a:ext cx="286207" cy="286207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0070287" y="5296205"/>
            <a:ext cx="104973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&gt;99%</a:t>
            </a:r>
            <a:endParaRPr lang="en-US" sz="2700" dirty="0"/>
          </a:p>
        </p:txBody>
      </p:sp>
      <p:sp>
        <p:nvSpPr>
          <p:cNvPr id="51" name="Text 44"/>
          <p:cNvSpPr txBox="1"/>
          <p:nvPr/>
        </p:nvSpPr>
        <p:spPr>
          <a:xfrm>
            <a:off x="10107778" y="5753405"/>
            <a:ext cx="9756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9958730" y="6019495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Desktop Visual Click</a:t>
            </a:r>
            <a:endParaRPr lang="en-US" sz="900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4819802" y="1638605"/>
            <a:ext cx="200254" cy="228600"/>
          </a:xfrm>
          <a:prstGeom prst="rect">
            <a:avLst/>
          </a:prstGeom>
        </p:spPr>
      </p:pic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49694" y="1638605"/>
            <a:ext cx="228600" cy="228600"/>
          </a:xfrm>
          <a:prstGeom prst="rect">
            <a:avLst/>
          </a:prstGeom>
        </p:spPr>
      </p:pic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9480499" y="1638605"/>
            <a:ext cx="256946" cy="228600"/>
          </a:xfrm>
          <a:prstGeom prst="rect">
            <a:avLst/>
          </a:prstGeom>
        </p:spPr>
      </p:pic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4819802" y="2915107"/>
            <a:ext cx="256946" cy="228600"/>
          </a:xfrm>
          <a:prstGeom prst="rect">
            <a:avLst/>
          </a:prstGeom>
        </p:spPr>
      </p:pic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7149694" y="2915107"/>
            <a:ext cx="200254" cy="228600"/>
          </a:xfrm>
          <a:prstGeom prst="rect">
            <a:avLst/>
          </a:prstGeom>
        </p:spPr>
      </p:pic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9480499" y="2915107"/>
            <a:ext cx="256946" cy="228600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9539935" y="6553505"/>
            <a:ext cx="22887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 // PROJECT OVERVIEW</a:t>
            </a:r>
            <a:endParaRPr lang="en-US" sz="900" dirty="0"/>
          </a:p>
        </p:txBody>
      </p:sp>
      <p:sp>
        <p:nvSpPr>
          <p:cNvPr id="60" name="Shape 47"/>
          <p:cNvSpPr/>
          <p:nvPr/>
        </p:nvSpPr>
        <p:spPr>
          <a:xfrm>
            <a:off x="0" y="3813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7200" y="0"/>
            <a:ext cx="381305" cy="381305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428854" y="0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63" name="Text 49"/>
          <p:cNvSpPr txBox="1"/>
          <p:nvPr/>
        </p:nvSpPr>
        <p:spPr>
          <a:xfrm>
            <a:off x="990295" y="38405"/>
            <a:ext cx="22841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專案總覽與關鍵數據</a:t>
            </a:r>
            <a:endParaRPr lang="en-US" sz="1800" dirty="0"/>
          </a:p>
        </p:txBody>
      </p:sp>
      <p:sp>
        <p:nvSpPr>
          <p:cNvPr id="64" name="Text 50"/>
          <p:cNvSpPr txBox="1"/>
          <p:nvPr/>
        </p:nvSpPr>
        <p:spPr>
          <a:xfrm>
            <a:off x="9852660" y="47549"/>
            <a:ext cx="1191463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01-04</a:t>
            </a:r>
            <a:endParaRPr lang="en-US" sz="1000" dirty="0"/>
          </a:p>
        </p:txBody>
      </p:sp>
      <p:sp>
        <p:nvSpPr>
          <p:cNvPr id="65" name="Text 51"/>
          <p:cNvSpPr txBox="1"/>
          <p:nvPr/>
        </p:nvSpPr>
        <p:spPr>
          <a:xfrm>
            <a:off x="11094415" y="95098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29700" y="1295705"/>
            <a:ext cx="2781605" cy="3295498"/>
          </a:xfrm>
          <a:prstGeom prst="roundRect">
            <a:avLst>
              <a:gd name="adj" fmla="val 1351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9229954" y="1762049"/>
            <a:ext cx="23810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 txBox="1"/>
          <p:nvPr/>
        </p:nvSpPr>
        <p:spPr>
          <a:xfrm>
            <a:off x="9449410" y="1495044"/>
            <a:ext cx="2238451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BBF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智能識別策略 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3425" r="-3425"/>
          <a:stretch/>
        </p:blipFill>
        <p:spPr>
          <a:xfrm>
            <a:off x="9229954" y="1530706"/>
            <a:ext cx="142646" cy="1335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29954" y="1923898"/>
            <a:ext cx="19202" cy="6858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5"/>
          <p:cNvSpPr/>
          <p:nvPr/>
        </p:nvSpPr>
        <p:spPr>
          <a:xfrm>
            <a:off x="9400946" y="1923898"/>
            <a:ext cx="152705" cy="15270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 txBox="1"/>
          <p:nvPr/>
        </p:nvSpPr>
        <p:spPr>
          <a:xfrm>
            <a:off x="9400946" y="1923898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Level 1: Locators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400946" y="2152498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XPath, ID, CSS Selector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400946" y="2343607"/>
            <a:ext cx="6958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D3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Fastest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229954" y="2762402"/>
            <a:ext cx="19202" cy="5330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0"/>
          <p:cNvSpPr/>
          <p:nvPr/>
        </p:nvSpPr>
        <p:spPr>
          <a:xfrm>
            <a:off x="9400946" y="2762402"/>
            <a:ext cx="152705" cy="152705"/>
          </a:xfrm>
          <a:prstGeom prst="ellips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 txBox="1"/>
          <p:nvPr/>
        </p:nvSpPr>
        <p:spPr>
          <a:xfrm>
            <a:off x="9400946" y="2762402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FDBF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Level 2: Visual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9400946" y="2991002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Template Matching (OpenCV)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9400946" y="3143707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SSIM Stability Check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229954" y="3448202"/>
            <a:ext cx="19202" cy="8385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9400946" y="3448202"/>
            <a:ext cx="152705" cy="152705"/>
          </a:xfrm>
          <a:prstGeom prst="ellips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 txBox="1"/>
          <p:nvPr/>
        </p:nvSpPr>
        <p:spPr>
          <a:xfrm>
            <a:off x="9400946" y="3448202"/>
            <a:ext cx="2298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6F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Level 3: AI / Semantic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400946" y="3676802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PaddleOCR (Text)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9400946" y="3829507"/>
            <a:ext cx="2298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VLM (Intent Analysis)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400946" y="4019702"/>
            <a:ext cx="838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8B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Smartest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0225735" y="6553505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NX_FRAMEWORK_ARCH_V2.0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990295" y="299923"/>
            <a:ext cx="22841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跨平台統一架構總覽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9531706" y="309982"/>
            <a:ext cx="1267358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10854842" y="357530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01-04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533095" y="1295705"/>
            <a:ext cx="2581351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1182319" y="1495044"/>
            <a:ext cx="219456" cy="19019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516075" y="1419149"/>
            <a:ext cx="11137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Desktop (VMS)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1516075" y="1609344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Qt / OpenGL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3263494" y="1295705"/>
            <a:ext cx="2581351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0500" y="1495044"/>
            <a:ext cx="190195" cy="19019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4304995" y="1419149"/>
            <a:ext cx="9418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Web (Cloud)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4304995" y="1609344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 / DOM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5994806" y="1295705"/>
            <a:ext cx="2581351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9128" y="1495044"/>
            <a:ext cx="142646" cy="190195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996074" y="1419149"/>
            <a:ext cx="99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Mobile (App)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6996074" y="1609344"/>
            <a:ext cx="9253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 / iOS</a:t>
            </a:r>
            <a:endParaRPr lang="en-US" sz="9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1876806" y="1923898"/>
            <a:ext cx="114300" cy="152705"/>
          </a:xfrm>
          <a:prstGeom prst="rect">
            <a:avLst/>
          </a:prstGeom>
        </p:spPr>
      </p:pic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496105" y="2038198"/>
            <a:ext cx="114300" cy="152705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6972300" y="2038198"/>
            <a:ext cx="114300" cy="152705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381305" y="5962802"/>
            <a:ext cx="19714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41"/>
          <p:cNvSpPr txBox="1"/>
          <p:nvPr/>
        </p:nvSpPr>
        <p:spPr>
          <a:xfrm>
            <a:off x="428854" y="6048756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 Driver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428854" y="6200546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Selenium</a:t>
            </a:r>
            <a:endParaRPr lang="en-US" sz="1000" dirty="0"/>
          </a:p>
        </p:txBody>
      </p:sp>
      <p:sp>
        <p:nvSpPr>
          <p:cNvPr id="58" name="Shape 43"/>
          <p:cNvSpPr/>
          <p:nvPr/>
        </p:nvSpPr>
        <p:spPr>
          <a:xfrm>
            <a:off x="2505456" y="5962802"/>
            <a:ext cx="19714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44"/>
          <p:cNvSpPr txBox="1"/>
          <p:nvPr/>
        </p:nvSpPr>
        <p:spPr>
          <a:xfrm>
            <a:off x="2553005" y="6048756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Desktop I/O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2553005" y="6200546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PyAutoGUI</a:t>
            </a:r>
            <a:endParaRPr lang="en-US" sz="1000" dirty="0"/>
          </a:p>
        </p:txBody>
      </p:sp>
      <p:sp>
        <p:nvSpPr>
          <p:cNvPr id="61" name="Shape 46"/>
          <p:cNvSpPr/>
          <p:nvPr/>
        </p:nvSpPr>
        <p:spPr>
          <a:xfrm>
            <a:off x="4629607" y="5962802"/>
            <a:ext cx="19714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47"/>
          <p:cNvSpPr txBox="1"/>
          <p:nvPr/>
        </p:nvSpPr>
        <p:spPr>
          <a:xfrm>
            <a:off x="4677156" y="6048756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Mobile Bridge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4677156" y="6200546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Pure ADB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6752844" y="5962802"/>
            <a:ext cx="19714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50"/>
          <p:cNvSpPr txBox="1"/>
          <p:nvPr/>
        </p:nvSpPr>
        <p:spPr>
          <a:xfrm>
            <a:off x="6801307" y="6048756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Vision AI</a:t>
            </a:r>
            <a:endParaRPr lang="en-US" sz="900" dirty="0"/>
          </a:p>
        </p:txBody>
      </p:sp>
      <p:sp>
        <p:nvSpPr>
          <p:cNvPr id="66" name="Text 51"/>
          <p:cNvSpPr txBox="1"/>
          <p:nvPr/>
        </p:nvSpPr>
        <p:spPr>
          <a:xfrm>
            <a:off x="6801307" y="6200546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OpenCV / VLM</a:t>
            </a:r>
            <a:endParaRPr lang="en-US" sz="1000" dirty="0"/>
          </a:p>
        </p:txBody>
      </p:sp>
      <p:sp>
        <p:nvSpPr>
          <p:cNvPr id="67" name="Shape 52"/>
          <p:cNvSpPr/>
          <p:nvPr/>
        </p:nvSpPr>
        <p:spPr>
          <a:xfrm>
            <a:off x="381305" y="2343607"/>
            <a:ext cx="8343900" cy="3314700"/>
          </a:xfrm>
          <a:prstGeom prst="roundRect">
            <a:avLst>
              <a:gd name="adj" fmla="val 1268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53"/>
          <p:cNvSpPr txBox="1"/>
          <p:nvPr/>
        </p:nvSpPr>
        <p:spPr>
          <a:xfrm>
            <a:off x="653725" y="2079732"/>
            <a:ext cx="2179930" cy="1719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Nx Automation Framework</a:t>
            </a:r>
            <a:endParaRPr lang="en-US" sz="900" dirty="0"/>
          </a:p>
        </p:txBody>
      </p:sp>
      <p:sp>
        <p:nvSpPr>
          <p:cNvPr id="69" name="Shape 54"/>
          <p:cNvSpPr/>
          <p:nvPr/>
        </p:nvSpPr>
        <p:spPr>
          <a:xfrm>
            <a:off x="629107" y="2590495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55"/>
          <p:cNvSpPr txBox="1"/>
          <p:nvPr/>
        </p:nvSpPr>
        <p:spPr>
          <a:xfrm>
            <a:off x="790956" y="2762402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L3</a:t>
            </a:r>
            <a:endParaRPr lang="en-US" sz="1200" dirty="0"/>
          </a:p>
        </p:txBody>
      </p:sp>
      <p:sp>
        <p:nvSpPr>
          <p:cNvPr id="71" name="Text 56"/>
          <p:cNvSpPr txBox="1"/>
          <p:nvPr/>
        </p:nvSpPr>
        <p:spPr>
          <a:xfrm>
            <a:off x="1352398" y="2743200"/>
            <a:ext cx="25758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Actions Layer</a:t>
            </a:r>
            <a:endParaRPr lang="en-US" sz="1300" dirty="0"/>
          </a:p>
        </p:txBody>
      </p:sp>
      <p:sp>
        <p:nvSpPr>
          <p:cNvPr id="72" name="Text 57"/>
          <p:cNvSpPr txBox="1"/>
          <p:nvPr/>
        </p:nvSpPr>
        <p:spPr>
          <a:xfrm>
            <a:off x="1352398" y="3010205"/>
            <a:ext cx="29471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Business Logic &amp; Workflow Orchestration (E2E)</a:t>
            </a:r>
            <a:endParaRPr lang="en-US" sz="900" dirty="0"/>
          </a:p>
        </p:txBody>
      </p:sp>
      <p:sp>
        <p:nvSpPr>
          <p:cNvPr id="73" name="Text 58"/>
          <p:cNvSpPr txBox="1"/>
          <p:nvPr/>
        </p:nvSpPr>
        <p:spPr>
          <a:xfrm>
            <a:off x="6228893" y="2838298"/>
            <a:ext cx="1105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CameraActions</a:t>
            </a:r>
            <a:endParaRPr lang="en-US" sz="900" dirty="0"/>
          </a:p>
        </p:txBody>
      </p:sp>
      <p:sp>
        <p:nvSpPr>
          <p:cNvPr id="74" name="Text 59"/>
          <p:cNvSpPr txBox="1"/>
          <p:nvPr/>
        </p:nvSpPr>
        <p:spPr>
          <a:xfrm>
            <a:off x="7349033" y="2838298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LoginActions</a:t>
            </a:r>
            <a:endParaRPr lang="en-US" sz="90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496105" y="3390595"/>
            <a:ext cx="114300" cy="152705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629107" y="3619195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61"/>
          <p:cNvSpPr txBox="1"/>
          <p:nvPr/>
        </p:nvSpPr>
        <p:spPr>
          <a:xfrm>
            <a:off x="790956" y="3791102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L2</a:t>
            </a:r>
            <a:endParaRPr lang="en-US" sz="1200" dirty="0"/>
          </a:p>
        </p:txBody>
      </p:sp>
      <p:sp>
        <p:nvSpPr>
          <p:cNvPr id="78" name="Text 62"/>
          <p:cNvSpPr txBox="1"/>
          <p:nvPr/>
        </p:nvSpPr>
        <p:spPr>
          <a:xfrm>
            <a:off x="1352398" y="3771900"/>
            <a:ext cx="25959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Pages Layer</a:t>
            </a:r>
            <a:endParaRPr lang="en-US" sz="1300" dirty="0"/>
          </a:p>
        </p:txBody>
      </p:sp>
      <p:sp>
        <p:nvSpPr>
          <p:cNvPr id="79" name="Text 63"/>
          <p:cNvSpPr txBox="1"/>
          <p:nvPr/>
        </p:nvSpPr>
        <p:spPr>
          <a:xfrm>
            <a:off x="1352398" y="4038905"/>
            <a:ext cx="29699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Objects &amp; Atomic Operations (No Assertions)</a:t>
            </a:r>
            <a:endParaRPr lang="en-US" sz="900" dirty="0"/>
          </a:p>
        </p:txBody>
      </p:sp>
      <p:sp>
        <p:nvSpPr>
          <p:cNvPr id="80" name="Text 64"/>
          <p:cNvSpPr txBox="1"/>
          <p:nvPr/>
        </p:nvSpPr>
        <p:spPr>
          <a:xfrm>
            <a:off x="6503213" y="3866998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LoginPage</a:t>
            </a:r>
            <a:endParaRPr lang="en-US" sz="900" dirty="0"/>
          </a:p>
        </p:txBody>
      </p:sp>
      <p:sp>
        <p:nvSpPr>
          <p:cNvPr id="81" name="Text 65"/>
          <p:cNvSpPr txBox="1"/>
          <p:nvPr/>
        </p:nvSpPr>
        <p:spPr>
          <a:xfrm>
            <a:off x="7349033" y="3866998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PlaybackPage</a:t>
            </a:r>
            <a:endParaRPr lang="en-US" sz="900" dirty="0"/>
          </a:p>
        </p:txBody>
      </p:sp>
      <p:pic>
        <p:nvPicPr>
          <p:cNvPr id="82" name="Image 14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496105" y="4419295"/>
            <a:ext cx="114300" cy="152705"/>
          </a:xfrm>
          <a:prstGeom prst="rect">
            <a:avLst/>
          </a:prstGeom>
        </p:spPr>
      </p:pic>
      <p:sp>
        <p:nvSpPr>
          <p:cNvPr id="83" name="Shape 66"/>
          <p:cNvSpPr/>
          <p:nvPr/>
        </p:nvSpPr>
        <p:spPr>
          <a:xfrm>
            <a:off x="629107" y="4647895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Text 67"/>
          <p:cNvSpPr txBox="1"/>
          <p:nvPr/>
        </p:nvSpPr>
        <p:spPr>
          <a:xfrm>
            <a:off x="790956" y="4819802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L1</a:t>
            </a:r>
            <a:endParaRPr lang="en-US" sz="1200" dirty="0"/>
          </a:p>
        </p:txBody>
      </p:sp>
      <p:sp>
        <p:nvSpPr>
          <p:cNvPr id="85" name="Text 68"/>
          <p:cNvSpPr txBox="1"/>
          <p:nvPr/>
        </p:nvSpPr>
        <p:spPr>
          <a:xfrm>
            <a:off x="1352398" y="4800600"/>
            <a:ext cx="2407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86" name="Text 69"/>
          <p:cNvSpPr txBox="1"/>
          <p:nvPr/>
        </p:nvSpPr>
        <p:spPr>
          <a:xfrm>
            <a:off x="1352398" y="5067605"/>
            <a:ext cx="27550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Driver Init, Smart Wait, Logging, Screenshot</a:t>
            </a:r>
            <a:endParaRPr lang="en-US" sz="900" dirty="0"/>
          </a:p>
        </p:txBody>
      </p:sp>
      <p:sp>
        <p:nvSpPr>
          <p:cNvPr id="87" name="Text 70"/>
          <p:cNvSpPr txBox="1"/>
          <p:nvPr/>
        </p:nvSpPr>
        <p:spPr>
          <a:xfrm>
            <a:off x="6708953" y="4895698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BasePage</a:t>
            </a:r>
            <a:endParaRPr lang="en-US" sz="900" dirty="0"/>
          </a:p>
        </p:txBody>
      </p:sp>
      <p:sp>
        <p:nvSpPr>
          <p:cNvPr id="88" name="Text 71"/>
          <p:cNvSpPr txBox="1"/>
          <p:nvPr/>
        </p:nvSpPr>
        <p:spPr>
          <a:xfrm>
            <a:off x="7486193" y="4895698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BaseAction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847649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 txBox="1"/>
          <p:nvPr/>
        </p:nvSpPr>
        <p:spPr>
          <a:xfrm>
            <a:off x="951890" y="1000354"/>
            <a:ext cx="4877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傳統 POM 痛點 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1037844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7395" y="1304849"/>
            <a:ext cx="5181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Traditional Page Object Model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324905" y="847649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 txBox="1"/>
          <p:nvPr/>
        </p:nvSpPr>
        <p:spPr>
          <a:xfrm>
            <a:off x="6819595" y="1000354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改良型解耦方案 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100" y="1037844"/>
            <a:ext cx="190195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15100" y="1304849"/>
            <a:ext cx="5181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Decoupled Architecture (Actions-Driven)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57200" y="1837944"/>
            <a:ext cx="5410505" cy="4886554"/>
          </a:xfrm>
          <a:prstGeom prst="roundRect">
            <a:avLst>
              <a:gd name="adj" fmla="val 58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8"/>
          <p:cNvSpPr/>
          <p:nvPr/>
        </p:nvSpPr>
        <p:spPr>
          <a:xfrm>
            <a:off x="743407" y="2152498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304849" y="2152498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職責邊界模糊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304849" y="2419502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定位 (Locators) 與業務邏輯 (Business Logic) 混雜在同一個 Page 類中。代碼臃腫，難以閱讀。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43407" y="3081528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04849" y="3081528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維護成本指數級增長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04849" y="334761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元素微調（如 ID 變更）可能導致大量業務代碼需要修改，牽一髮動全身。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43407" y="4009644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304849" y="4009644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跨頁面流程困難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4276649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單一 Page Object 難以處理涉及多個頁面的複雜端到端 (E2E) 流程，導致腳本結構混亂。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71754" y="5243170"/>
            <a:ext cx="4781398" cy="1162202"/>
          </a:xfrm>
          <a:prstGeom prst="roundRect">
            <a:avLst>
              <a:gd name="adj" fmla="val 258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8"/>
          <p:cNvSpPr txBox="1"/>
          <p:nvPr/>
        </p:nvSpPr>
        <p:spPr>
          <a:xfrm>
            <a:off x="933602" y="5405018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Bad Practice: Logic mixed in Page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33602" y="5633618"/>
            <a:ext cx="45345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login(self):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Logic &amp; Locators mixed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self.driver.find(ID).click()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assert "Welcome" in page 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324905" y="1837944"/>
            <a:ext cx="5410505" cy="4886554"/>
          </a:xfrm>
          <a:prstGeom prst="roundRect">
            <a:avLst>
              <a:gd name="adj" fmla="val 58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1"/>
          <p:cNvSpPr/>
          <p:nvPr/>
        </p:nvSpPr>
        <p:spPr>
          <a:xfrm>
            <a:off x="6610198" y="2152498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172554" y="2152498"/>
            <a:ext cx="4362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極致解耦 (Decoupling)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172554" y="2419502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Pages</a:t>
            </a: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專注定位與原子操作； </a:t>
            </a: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Actions</a:t>
            </a: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專注業務編排。職責清晰，互不干擾。 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610198" y="3081528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172554" y="3081528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變更隔離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172554" y="334761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佈局改變只需修改 Pages 層，數百個測試案例的業務邏輯 (Actions) 完全無需變動。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610198" y="4009644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172554" y="4009644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高復用與穩定性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172554" y="4276649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Actions 層可像積木般組合不同 Page 的操作，實現複雜流程的快速構建與穩定運行。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638544" y="4938674"/>
            <a:ext cx="4781398" cy="1466698"/>
          </a:xfrm>
          <a:prstGeom prst="roundRect">
            <a:avLst>
              <a:gd name="adj" fmla="val 161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1"/>
          <p:cNvSpPr txBox="1"/>
          <p:nvPr/>
        </p:nvSpPr>
        <p:spPr>
          <a:xfrm>
            <a:off x="6801307" y="5100523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Good Practice: Separated Concerns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801307" y="5329123"/>
            <a:ext cx="45345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Pages Layer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click_login(self): find(BTN).click()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Actions Layer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login_flow(self):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page.click_login() # Clean logic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762549" y="3479292"/>
            <a:ext cx="667512" cy="609905"/>
          </a:xfrm>
          <a:prstGeom prst="rect">
            <a:avLst/>
          </a:prstGeom>
          <a:noFill/>
          <a:ln w="254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10225735" y="6553505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ARCH_DESIGN_PATTERN_V1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0" y="3813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0"/>
            <a:ext cx="381305" cy="38130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28854" y="0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990295" y="38405"/>
            <a:ext cx="278251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改良型 POM 與解耦設計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9372600" y="47549"/>
            <a:ext cx="142920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DESIGN PATTERN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0854842" y="95098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01-04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2007108"/>
            <a:ext cx="3353105" cy="3762756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609905" y="2007108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50" b="-450"/>
          <a:stretch/>
        </p:blipFill>
        <p:spPr>
          <a:xfrm>
            <a:off x="3952951" y="3877056"/>
            <a:ext cx="304495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544" y="2321662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6249" y="2474366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09344" y="2340864"/>
            <a:ext cx="1295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Layer 01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609344" y="2531059"/>
            <a:ext cx="145115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 Layer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257300" y="3112618"/>
            <a:ext cx="1578254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Stability Foundation 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911" r="-1911"/>
          <a:stretch/>
        </p:blipFill>
        <p:spPr>
          <a:xfrm>
            <a:off x="1047902" y="3164738"/>
            <a:ext cx="133502" cy="1143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3544" y="3645713"/>
            <a:ext cx="114300" cy="1143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52144" y="3588106"/>
            <a:ext cx="2628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底層驅動管理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1152144" y="3816706"/>
            <a:ext cx="27175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統一初始化 Selenium/Appium/PyAutoGUI 驅動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3544" y="4212641"/>
            <a:ext cx="114300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52144" y="4155034"/>
            <a:ext cx="21918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智能等待機制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1152144" y="4383634"/>
            <a:ext cx="23033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封裝 wait_for_element 與自動重試邏輯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3544" y="4779569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52144" y="4721962"/>
            <a:ext cx="1986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異常捕獲與截圖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1152144" y="4950562"/>
            <a:ext cx="1986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失敗時自動保存現場截圖與錯誤堆疊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923544" y="5136185"/>
            <a:ext cx="27239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4"/>
          <p:cNvSpPr txBox="1"/>
          <p:nvPr/>
        </p:nvSpPr>
        <p:spPr>
          <a:xfrm>
            <a:off x="1132942" y="5298034"/>
            <a:ext cx="2624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base/</a:t>
            </a:r>
            <a:endParaRPr lang="en-US" sz="9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923544" y="5302606"/>
            <a:ext cx="133502" cy="1143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419295" y="1922069"/>
            <a:ext cx="3353105" cy="3933749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16"/>
          <p:cNvSpPr/>
          <p:nvPr/>
        </p:nvSpPr>
        <p:spPr>
          <a:xfrm>
            <a:off x="4419295" y="1922069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rcRect t="-450" b="-450"/>
          <a:stretch/>
        </p:blipFill>
        <p:spPr>
          <a:xfrm>
            <a:off x="7763256" y="3877056"/>
            <a:ext cx="304495" cy="19202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4733849" y="2235708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4871923" y="2388413"/>
            <a:ext cx="256946" cy="22860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5419649" y="2254910"/>
            <a:ext cx="1420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Layer 02</a:t>
            </a:r>
            <a:endParaRPr lang="en-US" sz="900" dirty="0"/>
          </a:p>
        </p:txBody>
      </p:sp>
      <p:sp>
        <p:nvSpPr>
          <p:cNvPr id="31" name="Text 19"/>
          <p:cNvSpPr txBox="1"/>
          <p:nvPr/>
        </p:nvSpPr>
        <p:spPr>
          <a:xfrm>
            <a:off x="5419649" y="2445106"/>
            <a:ext cx="15983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Pages Layer</a:t>
            </a:r>
            <a:endParaRPr lang="en-US" sz="1800" dirty="0"/>
          </a:p>
        </p:txBody>
      </p:sp>
      <p:sp>
        <p:nvSpPr>
          <p:cNvPr id="32" name="Text 20"/>
          <p:cNvSpPr/>
          <p:nvPr/>
        </p:nvSpPr>
        <p:spPr>
          <a:xfrm>
            <a:off x="5076749" y="3026664"/>
            <a:ext cx="1431036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Element Repository </a:t>
            </a:r>
            <a:endParaRPr lang="en-US" sz="9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4858207" y="3078785"/>
            <a:ext cx="142646" cy="114300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33849" y="3559759"/>
            <a:ext cx="114300" cy="11430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4962449" y="3503066"/>
            <a:ext cx="24277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元素倉庫</a:t>
            </a:r>
            <a:endParaRPr lang="en-US" sz="1000" dirty="0"/>
          </a:p>
        </p:txBody>
      </p:sp>
      <p:sp>
        <p:nvSpPr>
          <p:cNvPr id="36" name="Text 22"/>
          <p:cNvSpPr txBox="1"/>
          <p:nvPr/>
        </p:nvSpPr>
        <p:spPr>
          <a:xfrm>
            <a:off x="4962449" y="3731666"/>
            <a:ext cx="26755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集中管理 XPath, ID, Image Template 定位器</a:t>
            </a:r>
            <a:endParaRPr lang="en-US" sz="9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33849" y="4126687"/>
            <a:ext cx="114300" cy="11430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4962449" y="4069994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原子操作封裝</a:t>
            </a:r>
            <a:endParaRPr lang="en-US" sz="1000" dirty="0"/>
          </a:p>
        </p:txBody>
      </p:sp>
      <p:sp>
        <p:nvSpPr>
          <p:cNvPr id="39" name="Text 24"/>
          <p:cNvSpPr txBox="1"/>
          <p:nvPr/>
        </p:nvSpPr>
        <p:spPr>
          <a:xfrm>
            <a:off x="4962449" y="4298594"/>
            <a:ext cx="19842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僅負責 click(), type() 等基礎交互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4733849" y="4636008"/>
            <a:ext cx="2723998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19802" y="4779569"/>
            <a:ext cx="114300" cy="114300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5048402" y="4721962"/>
            <a:ext cx="17803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ECAC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嚴格禁止斷言</a:t>
            </a:r>
            <a:endParaRPr lang="en-US" sz="1000" dirty="0"/>
          </a:p>
        </p:txBody>
      </p:sp>
      <p:sp>
        <p:nvSpPr>
          <p:cNvPr id="43" name="Text 27"/>
          <p:cNvSpPr txBox="1"/>
          <p:nvPr/>
        </p:nvSpPr>
        <p:spPr>
          <a:xfrm>
            <a:off x="5048402" y="4950562"/>
            <a:ext cx="19613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Assertions allowed in Pages</a:t>
            </a:r>
            <a:endParaRPr lang="en-US" sz="900" dirty="0"/>
          </a:p>
        </p:txBody>
      </p:sp>
      <p:sp>
        <p:nvSpPr>
          <p:cNvPr id="44" name="Shape 28"/>
          <p:cNvSpPr/>
          <p:nvPr/>
        </p:nvSpPr>
        <p:spPr>
          <a:xfrm>
            <a:off x="4733849" y="5222138"/>
            <a:ext cx="27239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29"/>
          <p:cNvSpPr txBox="1"/>
          <p:nvPr/>
        </p:nvSpPr>
        <p:spPr>
          <a:xfrm>
            <a:off x="4943246" y="5383987"/>
            <a:ext cx="2624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pages/</a:t>
            </a:r>
            <a:endParaRPr lang="en-US" sz="90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4733849" y="5388559"/>
            <a:ext cx="133502" cy="114300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8229600" y="2007108"/>
            <a:ext cx="3353105" cy="3762756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31"/>
          <p:cNvSpPr/>
          <p:nvPr/>
        </p:nvSpPr>
        <p:spPr>
          <a:xfrm>
            <a:off x="8229600" y="2007108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32"/>
          <p:cNvSpPr/>
          <p:nvPr/>
        </p:nvSpPr>
        <p:spPr>
          <a:xfrm>
            <a:off x="8544154" y="2321662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95944" y="2474366"/>
            <a:ext cx="228600" cy="22860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9229954" y="2340864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Layer 03</a:t>
            </a:r>
            <a:endParaRPr lang="en-US" sz="900" dirty="0"/>
          </a:p>
        </p:txBody>
      </p:sp>
      <p:sp>
        <p:nvSpPr>
          <p:cNvPr id="52" name="Text 34"/>
          <p:cNvSpPr txBox="1"/>
          <p:nvPr/>
        </p:nvSpPr>
        <p:spPr>
          <a:xfrm>
            <a:off x="9229954" y="2531059"/>
            <a:ext cx="18022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Actions Layer</a:t>
            </a:r>
            <a:endParaRPr lang="en-US" sz="1800" dirty="0"/>
          </a:p>
        </p:txBody>
      </p:sp>
      <p:sp>
        <p:nvSpPr>
          <p:cNvPr id="53" name="Text 35"/>
          <p:cNvSpPr/>
          <p:nvPr/>
        </p:nvSpPr>
        <p:spPr>
          <a:xfrm>
            <a:off x="8877910" y="3112618"/>
            <a:ext cx="1360627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Workflow Director </a:t>
            </a:r>
            <a:endParaRPr lang="en-US" sz="900" dirty="0"/>
          </a:p>
        </p:txBody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8667598" y="3164738"/>
            <a:ext cx="133502" cy="114300"/>
          </a:xfrm>
          <a:prstGeom prst="rect">
            <a:avLst/>
          </a:prstGeom>
        </p:spPr>
      </p:pic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544154" y="3645713"/>
            <a:ext cx="114300" cy="114300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8772754" y="3588106"/>
            <a:ext cx="20473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業務流程編排</a:t>
            </a:r>
            <a:endParaRPr lang="en-US" sz="1000" dirty="0"/>
          </a:p>
        </p:txBody>
      </p:sp>
      <p:sp>
        <p:nvSpPr>
          <p:cNvPr id="57" name="Text 37"/>
          <p:cNvSpPr txBox="1"/>
          <p:nvPr/>
        </p:nvSpPr>
        <p:spPr>
          <a:xfrm>
            <a:off x="8772754" y="3816706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組合多個 Page 完成端到端 (E2E) 測試</a:t>
            </a:r>
            <a:endParaRPr lang="en-US" sz="900" dirty="0"/>
          </a:p>
        </p:txBody>
      </p:sp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544154" y="4212641"/>
            <a:ext cx="114300" cy="114300"/>
          </a:xfrm>
          <a:prstGeom prst="rect">
            <a:avLst/>
          </a:prstGeom>
        </p:spPr>
      </p:pic>
      <p:sp>
        <p:nvSpPr>
          <p:cNvPr id="59" name="Text 38"/>
          <p:cNvSpPr txBox="1"/>
          <p:nvPr/>
        </p:nvSpPr>
        <p:spPr>
          <a:xfrm>
            <a:off x="8772754" y="4155034"/>
            <a:ext cx="17080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鏈式調用支持</a:t>
            </a:r>
            <a:endParaRPr lang="en-US" sz="1000" dirty="0"/>
          </a:p>
        </p:txBody>
      </p:sp>
      <p:sp>
        <p:nvSpPr>
          <p:cNvPr id="60" name="Text 39"/>
          <p:cNvSpPr txBox="1"/>
          <p:nvPr/>
        </p:nvSpPr>
        <p:spPr>
          <a:xfrm>
            <a:off x="8772754" y="4383634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 Fluent Interface 接口設計</a:t>
            </a:r>
            <a:endParaRPr lang="en-US" sz="900" dirty="0"/>
          </a:p>
        </p:txBody>
      </p:sp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544154" y="4779569"/>
            <a:ext cx="114300" cy="114300"/>
          </a:xfrm>
          <a:prstGeom prst="rect">
            <a:avLst/>
          </a:prstGeom>
        </p:spPr>
      </p:pic>
      <p:sp>
        <p:nvSpPr>
          <p:cNvPr id="62" name="Text 40"/>
          <p:cNvSpPr txBox="1"/>
          <p:nvPr/>
        </p:nvSpPr>
        <p:spPr>
          <a:xfrm>
            <a:off x="8772754" y="4721962"/>
            <a:ext cx="1862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邏輯判斷與斷言</a:t>
            </a:r>
            <a:endParaRPr lang="en-US" sz="1000" dirty="0"/>
          </a:p>
        </p:txBody>
      </p:sp>
      <p:sp>
        <p:nvSpPr>
          <p:cNvPr id="63" name="Text 41"/>
          <p:cNvSpPr txBox="1"/>
          <p:nvPr/>
        </p:nvSpPr>
        <p:spPr>
          <a:xfrm>
            <a:off x="8772754" y="4950562"/>
            <a:ext cx="1862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負責業務邏輯檢查與最終結果驗證</a:t>
            </a:r>
            <a:endParaRPr lang="en-US" sz="900" dirty="0"/>
          </a:p>
        </p:txBody>
      </p:sp>
      <p:sp>
        <p:nvSpPr>
          <p:cNvPr id="64" name="Shape 42"/>
          <p:cNvSpPr/>
          <p:nvPr/>
        </p:nvSpPr>
        <p:spPr>
          <a:xfrm>
            <a:off x="8544154" y="5136185"/>
            <a:ext cx="27239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43"/>
          <p:cNvSpPr txBox="1"/>
          <p:nvPr/>
        </p:nvSpPr>
        <p:spPr>
          <a:xfrm>
            <a:off x="8753551" y="5298034"/>
            <a:ext cx="26243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actions/</a:t>
            </a:r>
            <a:endParaRPr lang="en-US" sz="900" dirty="0"/>
          </a:p>
        </p:txBody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15"/>
          <a:srcRect l="-1911" r="-1911"/>
          <a:stretch/>
        </p:blipFill>
        <p:spPr>
          <a:xfrm>
            <a:off x="8544154" y="5302606"/>
            <a:ext cx="133502" cy="114300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9745675" y="6553505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ARCH_LAYER_RESPONSIBILITY_MAP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71" name="Text 47"/>
          <p:cNvSpPr txBox="1"/>
          <p:nvPr/>
        </p:nvSpPr>
        <p:spPr>
          <a:xfrm>
            <a:off x="990295" y="299923"/>
            <a:ext cx="20272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三層架構職責拆解</a:t>
            </a:r>
            <a:endParaRPr lang="en-US" sz="1800" dirty="0"/>
          </a:p>
        </p:txBody>
      </p:sp>
      <p:sp>
        <p:nvSpPr>
          <p:cNvPr id="72" name="Text 48"/>
          <p:cNvSpPr txBox="1"/>
          <p:nvPr/>
        </p:nvSpPr>
        <p:spPr>
          <a:xfrm>
            <a:off x="8891626" y="309982"/>
            <a:ext cx="193212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RESPONSIBILITY CHAIN</a:t>
            </a:r>
            <a:endParaRPr lang="en-US" sz="1000" dirty="0"/>
          </a:p>
        </p:txBody>
      </p:sp>
      <p:sp>
        <p:nvSpPr>
          <p:cNvPr id="73" name="Text 49"/>
          <p:cNvSpPr txBox="1"/>
          <p:nvPr/>
        </p:nvSpPr>
        <p:spPr>
          <a:xfrm>
            <a:off x="10854842" y="357530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01-04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5486400" cy="2229307"/>
          </a:xfrm>
          <a:prstGeom prst="roundRect">
            <a:avLst>
              <a:gd name="adj" fmla="val 280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771754" y="1686154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 rot="11760000">
            <a:off x="733349" y="1647749"/>
            <a:ext cx="666598" cy="666598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976579" y="1876349"/>
            <a:ext cx="200254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9344" y="1686154"/>
            <a:ext cx="3353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智能等待機制 (Smart Wait)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609344" y="2029054"/>
            <a:ext cx="19202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 txBox="1"/>
          <p:nvPr/>
        </p:nvSpPr>
        <p:spPr>
          <a:xfrm>
            <a:off x="1742846" y="2029054"/>
            <a:ext cx="32196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捨棄不穩定的 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time.sleep()</a:t>
            </a: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，全面採用顯式等待。 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762049" y="2321662"/>
            <a:ext cx="3200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wait_for_element_visible()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1609344" y="2340864"/>
            <a:ext cx="75895" cy="114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62049" y="2531059"/>
            <a:ext cx="3200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wait_for_element_clickable()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1609344" y="2550262"/>
            <a:ext cx="75895" cy="1143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48095" y="1371600"/>
            <a:ext cx="5486400" cy="2229307"/>
          </a:xfrm>
          <a:prstGeom prst="roundRect">
            <a:avLst>
              <a:gd name="adj" fmla="val 280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0"/>
          <p:cNvSpPr/>
          <p:nvPr/>
        </p:nvSpPr>
        <p:spPr>
          <a:xfrm>
            <a:off x="6562649" y="1686154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1"/>
          <p:cNvSpPr/>
          <p:nvPr/>
        </p:nvSpPr>
        <p:spPr>
          <a:xfrm rot="11760000">
            <a:off x="6524244" y="1647749"/>
            <a:ext cx="666598" cy="666598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52844" y="1876349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01154" y="1686154"/>
            <a:ext cx="3791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自動截圖補償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7401154" y="2029054"/>
            <a:ext cx="19202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4"/>
          <p:cNvSpPr txBox="1"/>
          <p:nvPr/>
        </p:nvSpPr>
        <p:spPr>
          <a:xfrm>
            <a:off x="7534656" y="2029054"/>
            <a:ext cx="365760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當測試失敗時，自動觸發全螢幕截圖並掛載錯誤堆疊信息。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582205" y="2321662"/>
            <a:ext cx="3534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自動保存至 ./artifacts/failure_screenshots/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7401154" y="2340864"/>
            <a:ext cx="105156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582205" y="2531059"/>
            <a:ext cx="3534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有效減少 Flaky Tests 調試時間</a:t>
            </a:r>
            <a:endParaRPr lang="en-US" sz="9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7401154" y="2550262"/>
            <a:ext cx="105156" cy="1143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57200" y="3905402"/>
            <a:ext cx="5486400" cy="2495398"/>
          </a:xfrm>
          <a:prstGeom prst="roundRect">
            <a:avLst>
              <a:gd name="adj" fmla="val 22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18"/>
          <p:cNvSpPr/>
          <p:nvPr/>
        </p:nvSpPr>
        <p:spPr>
          <a:xfrm>
            <a:off x="771754" y="4219956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19"/>
          <p:cNvSpPr/>
          <p:nvPr/>
        </p:nvSpPr>
        <p:spPr>
          <a:xfrm rot="11760000">
            <a:off x="733349" y="4181551"/>
            <a:ext cx="666598" cy="666598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1949" y="4410151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609344" y="4219956"/>
            <a:ext cx="4210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座標轉換與 DPI 感知</a:t>
            </a:r>
            <a:endParaRPr lang="en-US" sz="1500" dirty="0"/>
          </a:p>
        </p:txBody>
      </p:sp>
      <p:sp>
        <p:nvSpPr>
          <p:cNvPr id="31" name="Shape 21"/>
          <p:cNvSpPr/>
          <p:nvPr/>
        </p:nvSpPr>
        <p:spPr>
          <a:xfrm>
            <a:off x="1609344" y="4562856"/>
            <a:ext cx="19202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2"/>
          <p:cNvSpPr txBox="1"/>
          <p:nvPr/>
        </p:nvSpPr>
        <p:spPr>
          <a:xfrm>
            <a:off x="1742846" y="4562856"/>
            <a:ext cx="4077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自動適配不同解析度與系統縮放比例 (125%, 150%)。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1609344" y="4855464"/>
            <a:ext cx="4019702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24"/>
          <p:cNvSpPr txBox="1"/>
          <p:nvPr/>
        </p:nvSpPr>
        <p:spPr>
          <a:xfrm>
            <a:off x="1695298" y="4941418"/>
            <a:ext cx="3924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target_x = (win_x + win_w * ratio_x) * dpi_scale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248095" y="3905402"/>
            <a:ext cx="5486400" cy="2495398"/>
          </a:xfrm>
          <a:prstGeom prst="roundRect">
            <a:avLst>
              <a:gd name="adj" fmla="val 22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26"/>
          <p:cNvSpPr/>
          <p:nvPr/>
        </p:nvSpPr>
        <p:spPr>
          <a:xfrm>
            <a:off x="6562649" y="4219956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27"/>
          <p:cNvSpPr/>
          <p:nvPr/>
        </p:nvSpPr>
        <p:spPr>
          <a:xfrm rot="11760000">
            <a:off x="6524244" y="4181551"/>
            <a:ext cx="666598" cy="666598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6782105" y="4410151"/>
            <a:ext cx="171907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401154" y="4219956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測試報告與上下文管理</a:t>
            </a:r>
            <a:endParaRPr lang="en-US" sz="1500" dirty="0"/>
          </a:p>
        </p:txBody>
      </p:sp>
      <p:sp>
        <p:nvSpPr>
          <p:cNvPr id="40" name="Shape 29"/>
          <p:cNvSpPr/>
          <p:nvPr/>
        </p:nvSpPr>
        <p:spPr>
          <a:xfrm>
            <a:off x="7401154" y="4562856"/>
            <a:ext cx="19202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0"/>
          <p:cNvSpPr txBox="1"/>
          <p:nvPr/>
        </p:nvSpPr>
        <p:spPr>
          <a:xfrm>
            <a:off x="7534656" y="4562856"/>
            <a:ext cx="3950208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內建 TestReporter 與 Context Manager，確保資源正確釋放。</a:t>
            </a:r>
            <a:endParaRPr lang="en-US" sz="1000" dirty="0"/>
          </a:p>
        </p:txBody>
      </p:sp>
      <p:sp>
        <p:nvSpPr>
          <p:cNvPr id="42" name="Text 31"/>
          <p:cNvSpPr txBox="1"/>
          <p:nvPr/>
        </p:nvSpPr>
        <p:spPr>
          <a:xfrm>
            <a:off x="7582205" y="4855464"/>
            <a:ext cx="3743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自動生成 HTML/XML 測試報告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7401154" y="4874666"/>
            <a:ext cx="105156" cy="1143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582205" y="5064862"/>
            <a:ext cx="3743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Setup/Teardown 統一管控</a:t>
            </a:r>
            <a:endParaRPr lang="en-US" sz="9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7401154" y="5084064"/>
            <a:ext cx="105156" cy="1143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951415" y="6553505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BASE_LAYER_CAPABILITIES_V1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35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990295" y="299923"/>
            <a:ext cx="263804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 Layer 核心能力</a:t>
            </a:r>
            <a:endParaRPr lang="en-US" sz="1800" dirty="0"/>
          </a:p>
        </p:txBody>
      </p:sp>
      <p:sp>
        <p:nvSpPr>
          <p:cNvPr id="52" name="Text 38"/>
          <p:cNvSpPr txBox="1"/>
          <p:nvPr/>
        </p:nvSpPr>
        <p:spPr>
          <a:xfrm>
            <a:off x="9692640" y="309982"/>
            <a:ext cx="1114654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10854842" y="357530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01-04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971946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 txBox="1"/>
          <p:nvPr/>
        </p:nvSpPr>
        <p:spPr>
          <a:xfrm>
            <a:off x="362102" y="6210605"/>
            <a:ext cx="11468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6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GOAL:</a:t>
            </a:r>
            <a:r>
              <a:rPr lang="en-US" sz="1000" kern="0" spc="26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從「機械化點擊」進化為「看得懂、會決策」的智能自動化 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457200" y="1910182"/>
            <a:ext cx="11277295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2986430"/>
            <a:ext cx="3562502" cy="2686507"/>
          </a:xfrm>
          <a:prstGeom prst="roundRect">
            <a:avLst>
              <a:gd name="adj" fmla="val 193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800100" y="3338474"/>
            <a:ext cx="171907" cy="1527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90549" y="3281782"/>
            <a:ext cx="264444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OpenCV Template Matching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694944" y="3757270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基於像素的精確匹配技術，解決 Qt/OpenGL 渲染界面無 ID 難題。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694944" y="4304995"/>
            <a:ext cx="3162910" cy="5532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cv2.matchTemplate(screen, tpl, TM_CCOEFF_NORMED)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875995" y="5048402"/>
            <a:ext cx="30193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信心閾值過濾 (Confidence &gt; 0.8)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94944" y="5067605"/>
            <a:ext cx="105156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5995" y="5277002"/>
            <a:ext cx="3096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灰階化處理消除色彩干擾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94944" y="5296205"/>
            <a:ext cx="105156" cy="1143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317797" y="2986430"/>
            <a:ext cx="3562502" cy="2686507"/>
          </a:xfrm>
          <a:prstGeom prst="roundRect">
            <a:avLst>
              <a:gd name="adj" fmla="val 193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4689043" y="3338474"/>
            <a:ext cx="114300" cy="1527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051146" y="3281782"/>
            <a:ext cx="1810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PaddleOCR 文字識別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4556455" y="3757270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針對動態文字內容（如時間戳記、狀態標籤）的高精度識別方案。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4556455" y="4304995"/>
            <a:ext cx="3162910" cy="5532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ocr.ocr(img, cls=True) -&gt; bbox, text, score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4737506" y="5048402"/>
            <a:ext cx="30193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識別動態 "Recording" 狀態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556455" y="5067605"/>
            <a:ext cx="105156" cy="1143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737506" y="5277002"/>
            <a:ext cx="3096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驗證畫面文字內容準確性</a:t>
            </a:r>
            <a:endParaRPr lang="en-US" sz="9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556455" y="5296205"/>
            <a:ext cx="105156" cy="1143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178394" y="2986430"/>
            <a:ext cx="3562502" cy="2686507"/>
          </a:xfrm>
          <a:prstGeom prst="roundRect">
            <a:avLst>
              <a:gd name="adj" fmla="val 193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8512150" y="3338474"/>
            <a:ext cx="190195" cy="1527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8911742" y="3281782"/>
            <a:ext cx="168889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VLM 語義理解 (AI)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8417052" y="3757270"/>
            <a:ext cx="31629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利用大視覺模型處理非預期彈窗與複雜 UI 邏輯判斷。</a:t>
            </a:r>
            <a:endParaRPr lang="en-US" sz="1000" dirty="0"/>
          </a:p>
        </p:txBody>
      </p:sp>
      <p:sp>
        <p:nvSpPr>
          <p:cNvPr id="29" name="Text 18"/>
          <p:cNvSpPr txBox="1"/>
          <p:nvPr/>
        </p:nvSpPr>
        <p:spPr>
          <a:xfrm>
            <a:off x="8417052" y="4304995"/>
            <a:ext cx="3162910" cy="5532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vlm.analyze(screenshot, prompt="Identify popup intent")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8598103" y="5048402"/>
            <a:ext cx="30193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擬人化決策：判斷 "Allow" 或 "Block"</a:t>
            </a:r>
            <a:endParaRPr lang="en-US" sz="9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8417052" y="5067605"/>
            <a:ext cx="105156" cy="1143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598103" y="5277002"/>
            <a:ext cx="3096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實現從「執行」到「決策」的進化</a:t>
            </a:r>
            <a:endParaRPr lang="en-US" sz="9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8417052" y="5296205"/>
            <a:ext cx="105156" cy="114300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1228954" y="1319479"/>
            <a:ext cx="609905" cy="60990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14577" y="1528877"/>
            <a:ext cx="237744" cy="190195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1067105" y="2042770"/>
            <a:ext cx="942746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23"/>
          <p:cNvSpPr txBox="1"/>
          <p:nvPr/>
        </p:nvSpPr>
        <p:spPr>
          <a:xfrm>
            <a:off x="1134770" y="2090318"/>
            <a:ext cx="8074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Traditional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1124712" y="2243023"/>
            <a:ext cx="827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XPath / ID</a:t>
            </a:r>
            <a:endParaRPr lang="en-US" sz="1200" dirty="0"/>
          </a:p>
        </p:txBody>
      </p:sp>
      <p:sp>
        <p:nvSpPr>
          <p:cNvPr id="39" name="Shape 25"/>
          <p:cNvSpPr/>
          <p:nvPr/>
        </p:nvSpPr>
        <p:spPr>
          <a:xfrm>
            <a:off x="4298594" y="1319479"/>
            <a:ext cx="609905" cy="60990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08906" y="1528877"/>
            <a:ext cx="190195" cy="190195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3914546" y="2042770"/>
            <a:ext cx="1380744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27"/>
          <p:cNvSpPr txBox="1"/>
          <p:nvPr/>
        </p:nvSpPr>
        <p:spPr>
          <a:xfrm>
            <a:off x="4000500" y="2090318"/>
            <a:ext cx="1209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3941978" y="2243023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Template Match</a:t>
            </a:r>
            <a:endParaRPr lang="en-US" sz="1200" dirty="0"/>
          </a:p>
        </p:txBody>
      </p:sp>
      <p:sp>
        <p:nvSpPr>
          <p:cNvPr id="44" name="Shape 29"/>
          <p:cNvSpPr/>
          <p:nvPr/>
        </p:nvSpPr>
        <p:spPr>
          <a:xfrm>
            <a:off x="7424928" y="1319479"/>
            <a:ext cx="609905" cy="60990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7643470" y="1528877"/>
            <a:ext cx="171907" cy="190195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7206386" y="2042770"/>
            <a:ext cx="1047902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31"/>
          <p:cNvSpPr txBox="1"/>
          <p:nvPr/>
        </p:nvSpPr>
        <p:spPr>
          <a:xfrm>
            <a:off x="7292340" y="2090318"/>
            <a:ext cx="876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Text AI</a:t>
            </a:r>
            <a:endParaRPr lang="en-US" sz="900" dirty="0"/>
          </a:p>
        </p:txBody>
      </p:sp>
      <p:sp>
        <p:nvSpPr>
          <p:cNvPr id="48" name="Text 32"/>
          <p:cNvSpPr txBox="1"/>
          <p:nvPr/>
        </p:nvSpPr>
        <p:spPr>
          <a:xfrm>
            <a:off x="7292340" y="2243023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PaddleOCR</a:t>
            </a:r>
            <a:endParaRPr lang="en-US" sz="1200" dirty="0"/>
          </a:p>
        </p:txBody>
      </p:sp>
      <p:sp>
        <p:nvSpPr>
          <p:cNvPr id="49" name="Shape 33"/>
          <p:cNvSpPr/>
          <p:nvPr/>
        </p:nvSpPr>
        <p:spPr>
          <a:xfrm>
            <a:off x="10340950" y="1319479"/>
            <a:ext cx="609905" cy="60990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550347" y="1528877"/>
            <a:ext cx="190195" cy="190195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10166299" y="2042770"/>
            <a:ext cx="961949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35"/>
          <p:cNvSpPr txBox="1"/>
          <p:nvPr/>
        </p:nvSpPr>
        <p:spPr>
          <a:xfrm>
            <a:off x="10222078" y="2090318"/>
            <a:ext cx="8503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Cognitive AI</a:t>
            </a:r>
            <a:endParaRPr lang="en-US" sz="900" dirty="0"/>
          </a:p>
        </p:txBody>
      </p:sp>
      <p:sp>
        <p:nvSpPr>
          <p:cNvPr id="53" name="Text 36"/>
          <p:cNvSpPr txBox="1"/>
          <p:nvPr/>
        </p:nvSpPr>
        <p:spPr>
          <a:xfrm>
            <a:off x="10222078" y="2243023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VLM / LLM</a:t>
            </a:r>
            <a:endParaRPr lang="en-US" sz="1200" dirty="0"/>
          </a:p>
        </p:txBody>
      </p:sp>
      <p:sp>
        <p:nvSpPr>
          <p:cNvPr id="54" name="Text 37"/>
          <p:cNvSpPr txBox="1"/>
          <p:nvPr/>
        </p:nvSpPr>
        <p:spPr>
          <a:xfrm>
            <a:off x="9814255" y="6553505"/>
            <a:ext cx="20016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ALGORITHM_STRATEGY_MATRIX_V3</a:t>
            </a:r>
            <a:endParaRPr lang="en-US" sz="900" dirty="0"/>
          </a:p>
        </p:txBody>
      </p:sp>
      <p:sp>
        <p:nvSpPr>
          <p:cNvPr id="55" name="Shape 38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39"/>
          <p:cNvSpPr/>
          <p:nvPr/>
        </p:nvSpPr>
        <p:spPr>
          <a:xfrm>
            <a:off x="0" y="848563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57200" y="231343"/>
            <a:ext cx="381305" cy="381305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428854" y="231343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59" name="Text 41"/>
          <p:cNvSpPr txBox="1"/>
          <p:nvPr/>
        </p:nvSpPr>
        <p:spPr>
          <a:xfrm>
            <a:off x="990295" y="268834"/>
            <a:ext cx="15224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智能識別引擎</a:t>
            </a:r>
            <a:endParaRPr lang="en-US" sz="1800" dirty="0"/>
          </a:p>
        </p:txBody>
      </p:sp>
      <p:sp>
        <p:nvSpPr>
          <p:cNvPr id="60" name="Text 42"/>
          <p:cNvSpPr txBox="1"/>
          <p:nvPr/>
        </p:nvSpPr>
        <p:spPr>
          <a:xfrm>
            <a:off x="9212580" y="278892"/>
            <a:ext cx="1595628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AI VISION ENGINE</a:t>
            </a:r>
            <a:endParaRPr lang="en-US" sz="1000" dirty="0"/>
          </a:p>
        </p:txBody>
      </p:sp>
      <p:sp>
        <p:nvSpPr>
          <p:cNvPr id="61" name="Text 43"/>
          <p:cNvSpPr txBox="1"/>
          <p:nvPr/>
        </p:nvSpPr>
        <p:spPr>
          <a:xfrm>
            <a:off x="10854842" y="326441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01-04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3562502" cy="5029200"/>
          </a:xfrm>
          <a:prstGeom prst="roundRect">
            <a:avLst>
              <a:gd name="adj" fmla="val 109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1854403" y="1686154"/>
            <a:ext cx="761695" cy="7616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 rot="12000000">
            <a:off x="1815998" y="1647749"/>
            <a:ext cx="819302" cy="8193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118" r="-1118"/>
          <a:stretch/>
        </p:blipFill>
        <p:spPr>
          <a:xfrm>
            <a:off x="2125980" y="1923898"/>
            <a:ext cx="219456" cy="2862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4146" y="2676449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無標準 AutomationId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3349" y="3095244"/>
            <a:ext cx="30102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Nx Witness 界面採用自定義 Qt/OpenGL 渲染引擎，傳統的 </a:t>
            </a:r>
            <a:r>
              <a:rPr lang="en-US" sz="9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Inspect.exe</a:t>
            </a: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無法獲取按鈕 ID 或控制項屬性。 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71754" y="3898087"/>
            <a:ext cx="2933395" cy="1200607"/>
          </a:xfrm>
          <a:prstGeom prst="roundRect">
            <a:avLst>
              <a:gd name="adj" fmla="val 241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 txBox="1"/>
          <p:nvPr/>
        </p:nvSpPr>
        <p:spPr>
          <a:xfrm>
            <a:off x="1176833" y="4021531"/>
            <a:ext cx="24807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FindElement(By.Id, "LoginBtn")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895198" y="4040734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5198" y="4517136"/>
            <a:ext cx="2762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ElementNotFoundException: No automation ID exposed.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317797" y="1371600"/>
            <a:ext cx="3562502" cy="5029200"/>
          </a:xfrm>
          <a:prstGeom prst="roundRect">
            <a:avLst>
              <a:gd name="adj" fmla="val 109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1686154"/>
            <a:ext cx="761695" cy="7616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1"/>
          <p:cNvSpPr/>
          <p:nvPr/>
        </p:nvSpPr>
        <p:spPr>
          <a:xfrm rot="12000000">
            <a:off x="5676595" y="1647749"/>
            <a:ext cx="819302" cy="8193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266" r="-266"/>
          <a:stretch/>
        </p:blipFill>
        <p:spPr>
          <a:xfrm>
            <a:off x="5933542" y="1923898"/>
            <a:ext cx="323698" cy="2862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37253" y="2676449"/>
            <a:ext cx="3124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樹驅動失效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93946" y="3095244"/>
            <a:ext cx="30102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由於缺乏標準控制項屬性，傳統的 UI Automation 框架 (如 UIA, PyWinAuto) 無法解析 DOM 結構，必須尋求純視覺化解決方案。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975250" y="4050792"/>
            <a:ext cx="26298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DOM 結構為空或不完整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5055" y="4069994"/>
            <a:ext cx="114300" cy="1143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975250" y="4279392"/>
            <a:ext cx="26298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無法遍歷子節點元素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5055" y="4298594"/>
            <a:ext cx="114300" cy="1143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178394" y="1371600"/>
            <a:ext cx="3562502" cy="5029200"/>
          </a:xfrm>
          <a:prstGeom prst="roundRect">
            <a:avLst>
              <a:gd name="adj" fmla="val 109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17"/>
          <p:cNvSpPr/>
          <p:nvPr/>
        </p:nvSpPr>
        <p:spPr>
          <a:xfrm>
            <a:off x="9575597" y="1686154"/>
            <a:ext cx="761695" cy="7616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18"/>
          <p:cNvSpPr/>
          <p:nvPr/>
        </p:nvSpPr>
        <p:spPr>
          <a:xfrm rot="12000000">
            <a:off x="9538106" y="1647749"/>
            <a:ext cx="819302" cy="8193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9795053" y="1923898"/>
            <a:ext cx="323698" cy="28620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397850" y="2676449"/>
            <a:ext cx="3124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高環境敏感性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8454542" y="3095244"/>
            <a:ext cx="3010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視覺識別極易受螢幕解析度、系統縮放比例 (DPI) 以及 UI 過渡動畫的干擾，導致圖像匹配失敗。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8492947" y="3681374"/>
            <a:ext cx="1429207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129370" y="3776472"/>
            <a:ext cx="152705" cy="1527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540496" y="3995928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9995306" y="3681374"/>
            <a:ext cx="1429207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631729" y="3776472"/>
            <a:ext cx="152705" cy="1527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042855" y="3995928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DPI Scale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8492947" y="4386377"/>
            <a:ext cx="1429207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29370" y="4481474"/>
            <a:ext cx="152705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8540496" y="4700930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9995306" y="4386377"/>
            <a:ext cx="1429207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631729" y="4481474"/>
            <a:ext cx="152705" cy="15270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0042855" y="4700930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Theme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10088575" y="65535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DESKTOP_UI_CHALLENGES_V1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31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47" name="Text 33"/>
          <p:cNvSpPr txBox="1"/>
          <p:nvPr/>
        </p:nvSpPr>
        <p:spPr>
          <a:xfrm>
            <a:off x="990295" y="299923"/>
            <a:ext cx="44979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桌面端技術挑戰：Qt/OpenGL 自定義 UI</a:t>
            </a:r>
            <a:endParaRPr lang="en-US" sz="1800" dirty="0"/>
          </a:p>
        </p:txBody>
      </p:sp>
      <p:sp>
        <p:nvSpPr>
          <p:cNvPr id="48" name="Text 34"/>
          <p:cNvSpPr txBox="1"/>
          <p:nvPr/>
        </p:nvSpPr>
        <p:spPr>
          <a:xfrm>
            <a:off x="9292133" y="309982"/>
            <a:ext cx="1763878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DESKTOP CHALLENGES</a:t>
            </a:r>
            <a:endParaRPr lang="en-US" sz="1000" dirty="0"/>
          </a:p>
        </p:txBody>
      </p:sp>
      <p:sp>
        <p:nvSpPr>
          <p:cNvPr id="49" name="Text 35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04849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 txBox="1"/>
          <p:nvPr/>
        </p:nvSpPr>
        <p:spPr>
          <a:xfrm>
            <a:off x="951890" y="1457554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視覺定位與控制引擎 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1495044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7395" y="1762049"/>
            <a:ext cx="5181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Visual Engine &amp; Window Control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324905" y="1304849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 txBox="1"/>
          <p:nvPr/>
        </p:nvSpPr>
        <p:spPr>
          <a:xfrm>
            <a:off x="6819595" y="1457554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穩健性保障機制 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100" y="1495044"/>
            <a:ext cx="190195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15100" y="1762049"/>
            <a:ext cx="5181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Stability &amp; Optimization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57200" y="2295144"/>
            <a:ext cx="5410505" cy="4105656"/>
          </a:xfrm>
          <a:prstGeom prst="roundRect">
            <a:avLst>
              <a:gd name="adj" fmla="val 82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8"/>
          <p:cNvSpPr/>
          <p:nvPr/>
        </p:nvSpPr>
        <p:spPr>
          <a:xfrm>
            <a:off x="847649" y="2686507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981151" y="2829154"/>
            <a:ext cx="190195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57554" y="2686507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視覺識別引擎 (PyAutoGUI + OpenCV)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457554" y="2952598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利用模板匹配 (Template Matching) 在 Qt 自定義渲染的大圖中精確搜尋按鈕截圖，解決無 ID 定位難題。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847649" y="3767328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0295" y="3909974"/>
            <a:ext cx="171907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57554" y="3767328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Win32 API 視窗控制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457554" y="4033418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強制測試目標視窗前台置頂 (TopMost) 並標準化對齊至 (0,0) 座標，消除螢幕相對位置的計算誤差。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771754" y="4977079"/>
            <a:ext cx="4781398" cy="1114654"/>
          </a:xfrm>
          <a:prstGeom prst="roundRect">
            <a:avLst>
              <a:gd name="adj" fmla="val 280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5"/>
          <p:cNvSpPr txBox="1"/>
          <p:nvPr/>
        </p:nvSpPr>
        <p:spPr>
          <a:xfrm>
            <a:off x="933602" y="5138928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Window Standardization Logic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933602" y="5367528"/>
            <a:ext cx="45345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hwnd = win32gui.FindWindow(None, </a:t>
            </a: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"Nx Witness"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Force window to foreground &amp; top-left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win32gui.SetWindowPos(hwnd, </a:t>
            </a:r>
            <a:r>
              <a:rPr lang="en-US" sz="9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r>
              <a:rPr lang="en-US" sz="9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r>
              <a:rPr lang="en-US" sz="9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w, h, flags) 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324905" y="2295144"/>
            <a:ext cx="5410505" cy="4105656"/>
          </a:xfrm>
          <a:prstGeom prst="roundRect">
            <a:avLst>
              <a:gd name="adj" fmla="val 82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18"/>
          <p:cNvSpPr/>
          <p:nvPr/>
        </p:nvSpPr>
        <p:spPr>
          <a:xfrm>
            <a:off x="6715354" y="2686507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858000" y="2829154"/>
            <a:ext cx="171907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24344" y="2686507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雙重保險 (Double Safety)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324344" y="2952598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 UI 變動導致圖像識別失效時，自動降級切換至比例座標 (Ratio Coordinates) 執行補償點擊，確保流程不中斷。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715354" y="3767328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6848856" y="3909974"/>
            <a:ext cx="190195" cy="17190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324344" y="3767328"/>
            <a:ext cx="4210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快捷鍵優先策略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7324344" y="4033418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 URL 獲取、錄影回放等操作，優先使用 </a:t>
            </a: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Ctrl+L</a:t>
            </a: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等底層指令，繞過不穩定的 UI 渲染層。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638544" y="4791456"/>
            <a:ext cx="4781398" cy="1295705"/>
          </a:xfrm>
          <a:prstGeom prst="roundRect">
            <a:avLst>
              <a:gd name="adj" fmla="val 20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25"/>
          <p:cNvSpPr txBox="1"/>
          <p:nvPr/>
        </p:nvSpPr>
        <p:spPr>
          <a:xfrm>
            <a:off x="6801307" y="4953305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Fallback Mechanism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6801307" y="5181905"/>
            <a:ext cx="45345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smart_click(img_path):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 not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visual.click(img_path):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Fallback to ratio coordinates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click_by_ratio(0.85, 0.12) # Top-Right Menu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5790895" y="3547872"/>
            <a:ext cx="609905" cy="60990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  <a:effectLst>
            <a:outerShdw blurRad="1905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76518" y="3757270"/>
            <a:ext cx="237744" cy="1901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0500055" y="6553505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NX_DESKTOP_AUTO_V2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0" y="8385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7200" y="228600"/>
            <a:ext cx="381305" cy="38130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28854" y="228600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990295" y="267005"/>
            <a:ext cx="27724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視覺定位策略與底層控制</a:t>
            </a:r>
            <a:endParaRPr lang="en-US" sz="1800" dirty="0"/>
          </a:p>
        </p:txBody>
      </p:sp>
      <p:sp>
        <p:nvSpPr>
          <p:cNvPr id="43" name="Text 32"/>
          <p:cNvSpPr txBox="1"/>
          <p:nvPr/>
        </p:nvSpPr>
        <p:spPr>
          <a:xfrm>
            <a:off x="9452153" y="276149"/>
            <a:ext cx="1595628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DESKTOP STRATEGY</a:t>
            </a:r>
            <a:endParaRPr lang="en-US" sz="1000" dirty="0"/>
          </a:p>
        </p:txBody>
      </p:sp>
      <p:sp>
        <p:nvSpPr>
          <p:cNvPr id="44" name="Text 33"/>
          <p:cNvSpPr txBox="1"/>
          <p:nvPr/>
        </p:nvSpPr>
        <p:spPr>
          <a:xfrm>
            <a:off x="11094415" y="323698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429207"/>
            <a:ext cx="3353105" cy="4819802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609905" y="1429207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50" b="-450"/>
          <a:stretch/>
        </p:blipFill>
        <p:spPr>
          <a:xfrm>
            <a:off x="3952951" y="3829507"/>
            <a:ext cx="304495" cy="192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23544" y="1742846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6249" y="1895551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609344" y="1762049"/>
            <a:ext cx="1381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609344" y="1952244"/>
            <a:ext cx="15535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 Click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238098" y="2533802"/>
            <a:ext cx="1221638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Triple Fallback 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902" y="2585923"/>
            <a:ext cx="114300" cy="1143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23544" y="3010205"/>
            <a:ext cx="2723998" cy="847649"/>
          </a:xfrm>
          <a:prstGeom prst="roundRect">
            <a:avLst>
              <a:gd name="adj" fmla="val 48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8"/>
          <p:cNvSpPr/>
          <p:nvPr/>
        </p:nvSpPr>
        <p:spPr>
          <a:xfrm>
            <a:off x="1009498" y="3152851"/>
            <a:ext cx="238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318565" y="3133649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圖像識別優先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318565" y="3362249"/>
            <a:ext cx="2286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OpenCV 模板匹配 (Conf &gt; 0.8)，精確定位按鈕中心。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923544" y="4048049"/>
            <a:ext cx="2723998" cy="847649"/>
          </a:xfrm>
          <a:prstGeom prst="roundRect">
            <a:avLst>
              <a:gd name="adj" fmla="val 48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2"/>
          <p:cNvSpPr/>
          <p:nvPr/>
        </p:nvSpPr>
        <p:spPr>
          <a:xfrm>
            <a:off x="1009498" y="4190695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345082" y="4172407"/>
            <a:ext cx="2356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動態等待重試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345082" y="4401007"/>
            <a:ext cx="2257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內建 Loop 機制，處理動畫過渡與加載延遲。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923544" y="5086807"/>
            <a:ext cx="2723998" cy="847649"/>
          </a:xfrm>
          <a:prstGeom prst="roundRect">
            <a:avLst>
              <a:gd name="adj" fmla="val 48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6"/>
          <p:cNvSpPr/>
          <p:nvPr/>
        </p:nvSpPr>
        <p:spPr>
          <a:xfrm>
            <a:off x="1009498" y="5229454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344168" y="5210251"/>
            <a:ext cx="2356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比例座標回退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344168" y="5438851"/>
            <a:ext cx="22576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視覺識別失效時，自動切換至相對座標點擊。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419295" y="1843430"/>
            <a:ext cx="3353105" cy="3991356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0"/>
          <p:cNvSpPr/>
          <p:nvPr/>
        </p:nvSpPr>
        <p:spPr>
          <a:xfrm>
            <a:off x="4419295" y="1843430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rcRect t="-450" b="-450"/>
          <a:stretch/>
        </p:blipFill>
        <p:spPr>
          <a:xfrm>
            <a:off x="7763256" y="3829507"/>
            <a:ext cx="304495" cy="1920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733849" y="2157070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4914900" y="2309774"/>
            <a:ext cx="171907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19649" y="2176272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Calculation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5419649" y="2367382"/>
            <a:ext cx="14813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比例座標公式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5048402" y="2948026"/>
            <a:ext cx="1498702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Resolution Agnostic </a:t>
            </a:r>
            <a:endParaRPr lang="en-US" sz="9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58207" y="3000146"/>
            <a:ext cx="114300" cy="1143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678985" y="3424428"/>
            <a:ext cx="2833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Target Calculation X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4695444" y="3653028"/>
            <a:ext cx="2800807" cy="5148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 = Win_X + (Win_W × Ratio_X)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4678985" y="4395521"/>
            <a:ext cx="2833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Target Calculation Y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4695444" y="4624121"/>
            <a:ext cx="2800807" cy="5148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 = Win_Y + (Win_H × Ratio_Y)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5338267" y="5386730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518404" y="5367528"/>
            <a:ext cx="15983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適配 1080p, 2K, 4K 解析度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8229600" y="1559966"/>
            <a:ext cx="3353105" cy="4562856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1"/>
          <p:cNvSpPr/>
          <p:nvPr/>
        </p:nvSpPr>
        <p:spPr>
          <a:xfrm>
            <a:off x="8229600" y="1559966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2"/>
          <p:cNvSpPr/>
          <p:nvPr/>
        </p:nvSpPr>
        <p:spPr>
          <a:xfrm>
            <a:off x="8544154" y="1873606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8682228" y="2026310"/>
            <a:ext cx="256946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229954" y="1892808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9229954" y="2083918"/>
            <a:ext cx="152887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DPI 感知技術</a:t>
            </a:r>
            <a:endParaRPr lang="en-US" sz="1800" dirty="0"/>
          </a:p>
        </p:txBody>
      </p:sp>
      <p:sp>
        <p:nvSpPr>
          <p:cNvPr id="46" name="Text 35"/>
          <p:cNvSpPr/>
          <p:nvPr/>
        </p:nvSpPr>
        <p:spPr>
          <a:xfrm>
            <a:off x="8848649" y="2664562"/>
            <a:ext cx="1429207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Scale Compensation </a:t>
            </a:r>
            <a:endParaRPr lang="en-US" sz="900" dirty="0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8667598" y="2716682"/>
            <a:ext cx="105156" cy="11430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8544154" y="3140964"/>
            <a:ext cx="2723998" cy="961949"/>
          </a:xfrm>
          <a:prstGeom prst="roundRect">
            <a:avLst>
              <a:gd name="adj" fmla="val 376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37"/>
          <p:cNvSpPr txBox="1"/>
          <p:nvPr/>
        </p:nvSpPr>
        <p:spPr>
          <a:xfrm>
            <a:off x="8915400" y="3302813"/>
            <a:ext cx="2286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Challenge</a:t>
            </a:r>
            <a:endParaRPr lang="en-US" sz="10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706002" y="3338474"/>
            <a:ext cx="133502" cy="133502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8706002" y="3569818"/>
            <a:ext cx="2477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Windows 縮放 (125%, 150%) 會導致物理座標與邏輯座標不一致，造成點擊偏移。</a:t>
            </a:r>
            <a:endParaRPr lang="en-US" sz="9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44154" y="4312310"/>
            <a:ext cx="114300" cy="11430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8772754" y="4255618"/>
            <a:ext cx="2315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自動偵測縮放率</a:t>
            </a:r>
            <a:endParaRPr lang="en-US" sz="1000" dirty="0"/>
          </a:p>
        </p:txBody>
      </p:sp>
      <p:sp>
        <p:nvSpPr>
          <p:cNvPr id="54" name="Text 40"/>
          <p:cNvSpPr txBox="1"/>
          <p:nvPr/>
        </p:nvSpPr>
        <p:spPr>
          <a:xfrm>
            <a:off x="8772754" y="4484218"/>
            <a:ext cx="2541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讀取系統 API 獲取當前 DPI Scale Factor。</a:t>
            </a:r>
            <a:endParaRPr lang="en-US" sz="900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44154" y="4879238"/>
            <a:ext cx="114300" cy="1143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772754" y="4821631"/>
            <a:ext cx="20162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實時補償計算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8772754" y="5050231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Real_Pos = Calc_Pos / Scale_Factor</a:t>
            </a:r>
            <a:endParaRPr lang="en-US" sz="9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544154" y="5446166"/>
            <a:ext cx="114300" cy="114300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772754" y="5388559"/>
            <a:ext cx="22329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環境無關性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8772754" y="5617159"/>
            <a:ext cx="22329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確保腳本在不同筆電與螢幕上無需修改。</a:t>
            </a:r>
            <a:endParaRPr lang="en-US" sz="900" dirty="0"/>
          </a:p>
        </p:txBody>
      </p:sp>
      <p:sp>
        <p:nvSpPr>
          <p:cNvPr id="61" name="Text 45"/>
          <p:cNvSpPr txBox="1"/>
          <p:nvPr/>
        </p:nvSpPr>
        <p:spPr>
          <a:xfrm>
            <a:off x="9745675" y="6553505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ADAPTIVE_AUTOMATION_ENGINE_V2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0" y="81015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7200" y="213970"/>
            <a:ext cx="381305" cy="381305"/>
          </a:xfrm>
          <a:prstGeom prst="rect">
            <a:avLst/>
          </a:prstGeom>
        </p:spPr>
      </p:pic>
      <p:sp>
        <p:nvSpPr>
          <p:cNvPr id="64" name="Text 47"/>
          <p:cNvSpPr txBox="1"/>
          <p:nvPr/>
        </p:nvSpPr>
        <p:spPr>
          <a:xfrm>
            <a:off x="428854" y="213970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65" name="Text 48"/>
          <p:cNvSpPr txBox="1"/>
          <p:nvPr/>
        </p:nvSpPr>
        <p:spPr>
          <a:xfrm>
            <a:off x="990295" y="252374"/>
            <a:ext cx="327172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 Click 與跨設備適配</a:t>
            </a:r>
            <a:endParaRPr lang="en-US" sz="1800" dirty="0"/>
          </a:p>
        </p:txBody>
      </p:sp>
      <p:sp>
        <p:nvSpPr>
          <p:cNvPr id="66" name="Text 49"/>
          <p:cNvSpPr txBox="1"/>
          <p:nvPr/>
        </p:nvSpPr>
        <p:spPr>
          <a:xfrm>
            <a:off x="9132113" y="261518"/>
            <a:ext cx="193212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ADAPTIVE INTERACTION</a:t>
            </a:r>
            <a:endParaRPr lang="en-US" sz="1000" dirty="0"/>
          </a:p>
        </p:txBody>
      </p:sp>
      <p:sp>
        <p:nvSpPr>
          <p:cNvPr id="67" name="Text 50"/>
          <p:cNvSpPr txBox="1"/>
          <p:nvPr/>
        </p:nvSpPr>
        <p:spPr>
          <a:xfrm>
            <a:off x="11094415" y="309982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897941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 txBox="1"/>
          <p:nvPr/>
        </p:nvSpPr>
        <p:spPr>
          <a:xfrm>
            <a:off x="951890" y="1049731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全新啟動模式 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395" y="1088136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7395" y="1355141"/>
            <a:ext cx="5181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New Browser Instance (Standard)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324905" y="897941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 txBox="1"/>
          <p:nvPr/>
        </p:nvSpPr>
        <p:spPr>
          <a:xfrm>
            <a:off x="6867144" y="1049731"/>
            <a:ext cx="4905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狀態接管模式 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100" y="1088136"/>
            <a:ext cx="237744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15100" y="1355141"/>
            <a:ext cx="5181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Debugger Address Attachment (Hybrid)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57200" y="1888236"/>
            <a:ext cx="5410505" cy="4515307"/>
          </a:xfrm>
          <a:prstGeom prst="roundRect">
            <a:avLst>
              <a:gd name="adj" fmla="val 68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8"/>
          <p:cNvSpPr/>
          <p:nvPr/>
        </p:nvSpPr>
        <p:spPr>
          <a:xfrm>
            <a:off x="743407" y="2202790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304849" y="2202790"/>
            <a:ext cx="4362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乾淨環境 (Clean State)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304849" y="246979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每次執行都會啟動全新的瀏覽器分頁，無 Cookie 與緩存，確保測試環境的絕對純淨。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43407" y="3130906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04849" y="3130906"/>
            <a:ext cx="4439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驗證流程冗長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04849" y="339791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由於無 Session 記錄，每次必須重複執行登錄 (Login) 與 2FA 驗證，耗時且效率較低。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43407" y="4059936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304849" y="4059936"/>
            <a:ext cx="3791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適用場景：冒煙測試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4326941"/>
            <a:ext cx="3791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適合用於驗證「首次安裝」或「首次登錄」的用戶體驗流程。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71754" y="4772254"/>
            <a:ext cx="4781398" cy="1314907"/>
          </a:xfrm>
          <a:prstGeom prst="roundRect">
            <a:avLst>
              <a:gd name="adj" fmla="val 20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8"/>
          <p:cNvSpPr txBox="1"/>
          <p:nvPr/>
        </p:nvSpPr>
        <p:spPr>
          <a:xfrm>
            <a:off x="933602" y="4934102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Standard Selenium Init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33602" y="5162702"/>
            <a:ext cx="45345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selenium </a:t>
            </a:r>
            <a:r>
              <a:rPr lang="en-US" sz="900" dirty="0">
                <a:solidFill>
                  <a:srgbClr val="F472B6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webdriver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Always starts fresh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driver = webdriver.Chrome()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driver.get(</a:t>
            </a:r>
            <a:r>
              <a:rPr lang="en-US" sz="900" dirty="0">
                <a:solidFill>
                  <a:srgbClr val="6EE7B7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"https://nx.cloud"</a:t>
            </a:r>
            <a:r>
              <a:rPr lang="en-US" sz="900" dirty="0">
                <a:solidFill>
                  <a:srgbClr val="F8FAFC">
                    <a:alpha val="8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324905" y="1888236"/>
            <a:ext cx="5410505" cy="4515307"/>
          </a:xfrm>
          <a:prstGeom prst="roundRect">
            <a:avLst>
              <a:gd name="adj" fmla="val 68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1"/>
          <p:cNvSpPr/>
          <p:nvPr/>
        </p:nvSpPr>
        <p:spPr>
          <a:xfrm>
            <a:off x="6610198" y="2202790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172554" y="2202790"/>
            <a:ext cx="4362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狀態繼承 (Session Keep)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172554" y="246979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透過 Port 9222 連接已開啟的瀏覽器，直接繼承登錄狀態，跳過繁瑣的 OAuth 流程。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610198" y="3130906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172554" y="3130906"/>
            <a:ext cx="4362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無縫接力 (Seamless)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172554" y="339791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支援「手動操作」與「自動化腳本」交替執行。開發者可手動引導至特定頁面，再讓腳本接管。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610198" y="4059936"/>
            <a:ext cx="438912" cy="381305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172554" y="4059936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適用場景：長流程開發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172554" y="4326941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極大提升調試效率，避免因腳本中斷而需重新跑完整個前置流程。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638544" y="4924044"/>
            <a:ext cx="4781398" cy="1162202"/>
          </a:xfrm>
          <a:prstGeom prst="roundRect">
            <a:avLst>
              <a:gd name="adj" fmla="val 258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1"/>
          <p:cNvSpPr txBox="1"/>
          <p:nvPr/>
        </p:nvSpPr>
        <p:spPr>
          <a:xfrm>
            <a:off x="6801307" y="5086807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Hybrid Driver Attachment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801307" y="5315407"/>
            <a:ext cx="45345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options = ChromeOptions()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Connect to existing browser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options.debugger_address = </a:t>
            </a: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"127.0.0.1:9222"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driver = webdriver.Chrome(options=options) 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762549" y="3344875"/>
            <a:ext cx="667512" cy="609905"/>
          </a:xfrm>
          <a:prstGeom prst="rect">
            <a:avLst/>
          </a:prstGeom>
          <a:noFill/>
          <a:ln w="254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10225735" y="6553505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WEB_DRIVER_STRATEGY_V1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0" y="43891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24689"/>
            <a:ext cx="381305" cy="38130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28854" y="24689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990295" y="63094"/>
            <a:ext cx="281909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Selenium 混合驅動策略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9612173" y="72238"/>
            <a:ext cx="142920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 AUTOMATION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1094415" y="120701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381305" y="1295705"/>
            <a:ext cx="6445606" cy="51819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0449" y="1304849"/>
            <a:ext cx="6429146" cy="381305"/>
          </a:xfrm>
          <a:prstGeom prst="roundRect">
            <a:avLst>
              <a:gd name="adj" fmla="val 7194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2"/>
          <p:cNvSpPr/>
          <p:nvPr/>
        </p:nvSpPr>
        <p:spPr>
          <a:xfrm>
            <a:off x="390449" y="1677010"/>
            <a:ext cx="6429146" cy="9144"/>
          </a:xfrm>
          <a:prstGeom prst="roundRect">
            <a:avLst>
              <a:gd name="adj" fmla="val 3000000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3"/>
          <p:cNvSpPr/>
          <p:nvPr/>
        </p:nvSpPr>
        <p:spPr>
          <a:xfrm>
            <a:off x="543154" y="143377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733349" y="143377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5"/>
          <p:cNvSpPr/>
          <p:nvPr/>
        </p:nvSpPr>
        <p:spPr>
          <a:xfrm>
            <a:off x="923544" y="143377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 txBox="1"/>
          <p:nvPr/>
        </p:nvSpPr>
        <p:spPr>
          <a:xfrm>
            <a:off x="1057046" y="1414577"/>
            <a:ext cx="5667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utils/browser_manager.py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33602" y="1914754"/>
            <a:ext cx="9144" cy="43241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 txBox="1"/>
          <p:nvPr/>
        </p:nvSpPr>
        <p:spPr>
          <a:xfrm>
            <a:off x="543154" y="1914754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3154" y="2131466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43154" y="2348179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3154" y="2564892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43154" y="2781605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43154" y="2998318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3154" y="3215030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3154" y="3431743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43154" y="3648456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43154" y="3865169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43154" y="4081882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3154" y="4298594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43154" y="4515307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43154" y="4731106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43154" y="4947818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43154" y="5164531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543154" y="5381244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43154" y="5597957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543154" y="5814670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43154" y="6031382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093622" y="1914754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配置防檢測參數 (Stealth Mode)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093622" y="2131466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options = 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ChromeOptions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93622" y="2348179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options.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add_experimental_option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93622" y="2564892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'excludeSwitches'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[</a:t>
            </a:r>
            <a:r>
              <a:rPr lang="en-US" sz="10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'enable-automation'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093622" y="2781605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093622" y="2998318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options.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add_experimental_option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093622" y="3215030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'useAutomationExtension'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</a:t>
            </a: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False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093622" y="3431743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093622" y="3648456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啟用 CDP 接管 (Debugger Address)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093622" y="3865169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Command: chrome.exe --remote-debugging-port=9222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093622" y="4081882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options.debugger_address = </a:t>
            </a:r>
            <a:r>
              <a:rPr lang="en-US" sz="10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"127.0.0.1:9222"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1093622" y="4298594"/>
            <a:ext cx="5686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初始化驅動並接管現有瀏覽器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093622" y="4515307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try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93622" y="4731106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driver = webdriver.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Chrome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(options=options)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93622" y="4947818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10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"Successfully attached to port 9222"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093622" y="5164531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except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Exception </a:t>
            </a: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as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e: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1093622" y="5381244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1000" dirty="0">
                <a:solidFill>
                  <a:srgbClr val="98C37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f"Connection Failed: {e}"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7207301" y="1638605"/>
            <a:ext cx="46104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6"/>
          <p:cNvSpPr txBox="1"/>
          <p:nvPr/>
        </p:nvSpPr>
        <p:spPr>
          <a:xfrm>
            <a:off x="7426757" y="1371600"/>
            <a:ext cx="4466844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Anti-Detection Logic </a:t>
            </a:r>
            <a:endParaRPr lang="en-US" sz="1000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7207301" y="1407262"/>
            <a:ext cx="142646" cy="133502"/>
          </a:xfrm>
          <a:prstGeom prst="rect">
            <a:avLst/>
          </a:prstGeom>
        </p:spPr>
      </p:pic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7207301" y="1876349"/>
            <a:ext cx="4604004" cy="961949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7388352" y="2066544"/>
            <a:ext cx="133502" cy="228600"/>
          </a:xfrm>
          <a:prstGeom prst="roundRect">
            <a:avLst>
              <a:gd name="adj" fmla="val 342467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48"/>
          <p:cNvSpPr/>
          <p:nvPr/>
        </p:nvSpPr>
        <p:spPr>
          <a:xfrm>
            <a:off x="7349947" y="2066544"/>
            <a:ext cx="2103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7632497" y="2029054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隱藏自動化標記 (Stealth)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7632497" y="2257654"/>
            <a:ext cx="4105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透過移除 </a:t>
            </a:r>
            <a:r>
              <a:rPr lang="en-US" sz="900" dirty="0">
                <a:solidFill>
                  <a:srgbClr val="FECAC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enable-automation</a:t>
            </a: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開關，禁用 WebDriver 標記，防止網頁透過 </a:t>
            </a:r>
            <a:r>
              <a:rPr lang="en-US" sz="900" dirty="0">
                <a:solidFill>
                  <a:srgbClr val="FECAC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navigator.webdriver</a:t>
            </a: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屬性識別腳本，規避反爬蟲機制。 </a:t>
            </a:r>
            <a:endParaRPr lang="en-US" sz="900" dirty="0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rcRect t="-18" b="-18"/>
          <a:stretch/>
        </p:blipFill>
        <p:spPr>
          <a:xfrm>
            <a:off x="7207301" y="2991002"/>
            <a:ext cx="4604004" cy="905256"/>
          </a:xfrm>
          <a:prstGeom prst="rect">
            <a:avLst/>
          </a:prstGeom>
        </p:spPr>
      </p:pic>
      <p:sp>
        <p:nvSpPr>
          <p:cNvPr id="58" name="Shape 51"/>
          <p:cNvSpPr/>
          <p:nvPr/>
        </p:nvSpPr>
        <p:spPr>
          <a:xfrm>
            <a:off x="7388352" y="3181198"/>
            <a:ext cx="133502" cy="228600"/>
          </a:xfrm>
          <a:prstGeom prst="roundRect">
            <a:avLst>
              <a:gd name="adj" fmla="val 342467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2"/>
          <p:cNvSpPr/>
          <p:nvPr/>
        </p:nvSpPr>
        <p:spPr>
          <a:xfrm>
            <a:off x="7349947" y="3181198"/>
            <a:ext cx="2103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7630668" y="3143707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CDP 接管技術 (Attach)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7630668" y="337230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 Chrome DevTools Protocol 連接已啟動的瀏覽器實例（端口 9222）。這允許腳本繼承手動登錄的 Session 狀態，繞過複雜的 OAuth 流程。</a:t>
            </a:r>
            <a:endParaRPr lang="en-US" sz="900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7"/>
          <a:srcRect t="-18" b="-18"/>
          <a:stretch/>
        </p:blipFill>
        <p:spPr>
          <a:xfrm>
            <a:off x="7207301" y="4048049"/>
            <a:ext cx="4604004" cy="905256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7388352" y="4238244"/>
            <a:ext cx="142646" cy="228600"/>
          </a:xfrm>
          <a:prstGeom prst="roundRect">
            <a:avLst>
              <a:gd name="adj" fmla="val 320514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56"/>
          <p:cNvSpPr/>
          <p:nvPr/>
        </p:nvSpPr>
        <p:spPr>
          <a:xfrm>
            <a:off x="7349947" y="4238244"/>
            <a:ext cx="2194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Text 57"/>
          <p:cNvSpPr txBox="1"/>
          <p:nvPr/>
        </p:nvSpPr>
        <p:spPr>
          <a:xfrm>
            <a:off x="7640726" y="4200754"/>
            <a:ext cx="4134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EE7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混合模式優勢 (Hybrid)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7640726" y="4429354"/>
            <a:ext cx="40965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支援「手動操作」與「自動化腳本」無縫切換。開發者可手動處理極端驗證碼，隨後讓腳本自動接管後續流程，大幅提升調試效率。</a:t>
            </a:r>
            <a:endParaRPr lang="en-US" sz="900" dirty="0"/>
          </a:p>
        </p:txBody>
      </p:sp>
      <p:sp>
        <p:nvSpPr>
          <p:cNvPr id="67" name="Shape 59"/>
          <p:cNvSpPr/>
          <p:nvPr/>
        </p:nvSpPr>
        <p:spPr>
          <a:xfrm>
            <a:off x="7207301" y="5695798"/>
            <a:ext cx="4610405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Shape 60"/>
          <p:cNvSpPr/>
          <p:nvPr/>
        </p:nvSpPr>
        <p:spPr>
          <a:xfrm>
            <a:off x="7330745" y="5820156"/>
            <a:ext cx="609905" cy="4572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21854" y="5934456"/>
            <a:ext cx="228600" cy="228600"/>
          </a:xfrm>
          <a:prstGeom prst="rect">
            <a:avLst/>
          </a:prstGeom>
        </p:spPr>
      </p:pic>
      <p:sp>
        <p:nvSpPr>
          <p:cNvPr id="70" name="Shape 61"/>
          <p:cNvSpPr/>
          <p:nvPr/>
        </p:nvSpPr>
        <p:spPr>
          <a:xfrm>
            <a:off x="7817206" y="5867705"/>
            <a:ext cx="75895" cy="75895"/>
          </a:xfrm>
          <a:prstGeom prst="ellipse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2"/>
          <p:cNvSpPr txBox="1"/>
          <p:nvPr/>
        </p:nvSpPr>
        <p:spPr>
          <a:xfrm>
            <a:off x="8093354" y="5857646"/>
            <a:ext cx="1762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SESSION STATUS</a:t>
            </a:r>
            <a:endParaRPr lang="en-US" sz="900" dirty="0"/>
          </a:p>
        </p:txBody>
      </p:sp>
      <p:sp>
        <p:nvSpPr>
          <p:cNvPr id="72" name="Text 63"/>
          <p:cNvSpPr txBox="1"/>
          <p:nvPr/>
        </p:nvSpPr>
        <p:spPr>
          <a:xfrm>
            <a:off x="8093354" y="6048756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CONNECTED (PORT 9222)</a:t>
            </a:r>
            <a:endParaRPr lang="en-US" sz="1000" dirty="0"/>
          </a:p>
        </p:txBody>
      </p:sp>
      <p:sp>
        <p:nvSpPr>
          <p:cNvPr id="73" name="Text 64"/>
          <p:cNvSpPr txBox="1"/>
          <p:nvPr/>
        </p:nvSpPr>
        <p:spPr>
          <a:xfrm>
            <a:off x="10338206" y="5896051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Navigator.webdriver</a:t>
            </a:r>
            <a:endParaRPr lang="en-US" sz="900" dirty="0"/>
          </a:p>
        </p:txBody>
      </p:sp>
      <p:sp>
        <p:nvSpPr>
          <p:cNvPr id="74" name="Text 65"/>
          <p:cNvSpPr txBox="1"/>
          <p:nvPr/>
        </p:nvSpPr>
        <p:spPr>
          <a:xfrm>
            <a:off x="10376611" y="6048756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undefined (Hidden)</a:t>
            </a:r>
            <a:endParaRPr lang="en-US" sz="900" dirty="0"/>
          </a:p>
        </p:txBody>
      </p:sp>
      <p:sp>
        <p:nvSpPr>
          <p:cNvPr id="75" name="Text 66"/>
          <p:cNvSpPr txBox="1"/>
          <p:nvPr/>
        </p:nvSpPr>
        <p:spPr>
          <a:xfrm>
            <a:off x="9951415" y="6553505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SELENIUM_STEALTH_MODE_V2.0</a:t>
            </a:r>
            <a:endParaRPr lang="en-US" sz="900" dirty="0"/>
          </a:p>
        </p:txBody>
      </p:sp>
      <p:sp>
        <p:nvSpPr>
          <p:cNvPr id="76" name="Shape 67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7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78" name="Text 68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79" name="Text 69"/>
          <p:cNvSpPr txBox="1"/>
          <p:nvPr/>
        </p:nvSpPr>
        <p:spPr>
          <a:xfrm>
            <a:off x="990295" y="299923"/>
            <a:ext cx="278251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防檢測與 CDP 接管技術</a:t>
            </a:r>
            <a:endParaRPr lang="en-US" sz="1800" dirty="0"/>
          </a:p>
        </p:txBody>
      </p:sp>
      <p:sp>
        <p:nvSpPr>
          <p:cNvPr id="80" name="Text 70"/>
          <p:cNvSpPr txBox="1"/>
          <p:nvPr/>
        </p:nvSpPr>
        <p:spPr>
          <a:xfrm>
            <a:off x="9612173" y="309982"/>
            <a:ext cx="142920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 AUTOMATION</a:t>
            </a:r>
            <a:endParaRPr lang="en-US" sz="1000" dirty="0"/>
          </a:p>
        </p:txBody>
      </p:sp>
      <p:sp>
        <p:nvSpPr>
          <p:cNvPr id="81" name="Text 71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09905" y="1806854"/>
            <a:ext cx="3353105" cy="4162349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09905" y="1806854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50" b="-450"/>
          <a:stretch/>
        </p:blipFill>
        <p:spPr>
          <a:xfrm>
            <a:off x="3952951" y="3877056"/>
            <a:ext cx="30449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3544" y="2121408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061618" y="2273198"/>
            <a:ext cx="2569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9344" y="2140610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01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609344" y="2330806"/>
            <a:ext cx="991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數據生產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57300" y="2911450"/>
            <a:ext cx="1647749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 2-1: Desktop App 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1911" r="-1911"/>
          <a:stretch/>
        </p:blipFill>
        <p:spPr>
          <a:xfrm>
            <a:off x="1047902" y="2964485"/>
            <a:ext cx="133502" cy="11430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544" y="3445459"/>
            <a:ext cx="114300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52144" y="3387852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獲取分享連結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1152144" y="3616452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 Nx Witness 客戶端操作，生成雲端錄影 URL 並複製到剪貼簿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544" y="4235501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52144" y="4178808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寫入本地緩存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1152144" y="4407408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將關鍵數據寫入磁碟文件，確保進程結束後數據不丟失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923544" y="4968850"/>
            <a:ext cx="2833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save_url.py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923544" y="5159959"/>
            <a:ext cx="2800807" cy="495605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with open("last_url.txt", "w") as f: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f.write(clipboard_content) 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4419295" y="1623974"/>
            <a:ext cx="3353105" cy="4524451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5"/>
          <p:cNvSpPr/>
          <p:nvPr/>
        </p:nvSpPr>
        <p:spPr>
          <a:xfrm>
            <a:off x="4419295" y="1623974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rcRect t="-450" b="-450"/>
          <a:stretch/>
        </p:blipFill>
        <p:spPr>
          <a:xfrm>
            <a:off x="7763256" y="3877056"/>
            <a:ext cx="304495" cy="1920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733849" y="1938528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871923" y="2090318"/>
            <a:ext cx="256946" cy="2286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19649" y="1957730"/>
            <a:ext cx="1219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02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5419649" y="2147926"/>
            <a:ext cx="123444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持久化橋樑</a:t>
            </a:r>
            <a:endParaRPr lang="en-US" sz="1800" dirty="0"/>
          </a:p>
        </p:txBody>
      </p:sp>
      <p:sp>
        <p:nvSpPr>
          <p:cNvPr id="28" name="Text 19"/>
          <p:cNvSpPr/>
          <p:nvPr/>
        </p:nvSpPr>
        <p:spPr>
          <a:xfrm>
            <a:off x="5067605" y="2728570"/>
            <a:ext cx="1291133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 Persistence </a:t>
            </a:r>
            <a:endParaRPr lang="en-US" sz="9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4858207" y="2781605"/>
            <a:ext cx="133502" cy="114300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33849" y="3262579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4962449" y="3204972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跨進程數據共享</a:t>
            </a:r>
            <a:endParaRPr lang="en-US" sz="1000" dirty="0"/>
          </a:p>
        </p:txBody>
      </p:sp>
      <p:sp>
        <p:nvSpPr>
          <p:cNvPr id="32" name="Text 21"/>
          <p:cNvSpPr txBox="1"/>
          <p:nvPr/>
        </p:nvSpPr>
        <p:spPr>
          <a:xfrm>
            <a:off x="4962449" y="3433572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解決不同測試案例 (Test Cases) 之間變量無法傳遞的問題</a:t>
            </a:r>
            <a:endParaRPr lang="en-US" sz="9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33849" y="4052621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962449" y="3995928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測試原子性保障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4962449" y="4224528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即便 Case 2-1 崩潰，Case 2-2 仍可讀取舊數據繼續執行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4733849" y="4785970"/>
            <a:ext cx="2723998" cy="1047902"/>
          </a:xfrm>
          <a:prstGeom prst="roundRect">
            <a:avLst>
              <a:gd name="adj" fmla="val 317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6010351" y="4947818"/>
            <a:ext cx="171907" cy="2286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5479085" y="5253228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last_cloud_url.txt</a:t>
            </a:r>
            <a:endParaRPr lang="en-US" sz="900" dirty="0"/>
          </a:p>
        </p:txBody>
      </p:sp>
      <p:sp>
        <p:nvSpPr>
          <p:cNvPr id="39" name="Text 26"/>
          <p:cNvSpPr txBox="1"/>
          <p:nvPr/>
        </p:nvSpPr>
        <p:spPr>
          <a:xfrm>
            <a:off x="5555894" y="5443423"/>
            <a:ext cx="12326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UTF-8 Encoded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8229600" y="1819656"/>
            <a:ext cx="3353105" cy="4134002"/>
          </a:xfrm>
          <a:prstGeom prst="roundRect">
            <a:avLst>
              <a:gd name="adj" fmla="val 93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28"/>
          <p:cNvSpPr/>
          <p:nvPr/>
        </p:nvSpPr>
        <p:spPr>
          <a:xfrm>
            <a:off x="8229600" y="1819656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29"/>
          <p:cNvSpPr/>
          <p:nvPr/>
        </p:nvSpPr>
        <p:spPr>
          <a:xfrm>
            <a:off x="8544154" y="2134210"/>
            <a:ext cx="533095" cy="533095"/>
          </a:xfrm>
          <a:prstGeom prst="roundRect">
            <a:avLst>
              <a:gd name="adj" fmla="val 245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95944" y="2286000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229954" y="2153412"/>
            <a:ext cx="1219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Step 03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9229954" y="2343607"/>
            <a:ext cx="123444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管理器接管</a:t>
            </a:r>
            <a:endParaRPr lang="en-US" sz="1800" dirty="0"/>
          </a:p>
        </p:txBody>
      </p:sp>
      <p:sp>
        <p:nvSpPr>
          <p:cNvPr id="46" name="Text 32"/>
          <p:cNvSpPr/>
          <p:nvPr/>
        </p:nvSpPr>
        <p:spPr>
          <a:xfrm>
            <a:off x="8887054" y="2924251"/>
            <a:ext cx="1991563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BrowserManager (Singleton) </a:t>
            </a:r>
            <a:endParaRPr lang="en-US" sz="9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2"/>
          <a:srcRect t="-80" b="-80"/>
          <a:stretch/>
        </p:blipFill>
        <p:spPr>
          <a:xfrm>
            <a:off x="8667598" y="2977286"/>
            <a:ext cx="142646" cy="114300"/>
          </a:xfrm>
          <a:prstGeom prst="rect">
            <a:avLst/>
          </a:prstGeom>
        </p:spPr>
      </p:pic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44154" y="3458261"/>
            <a:ext cx="114300" cy="11430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772754" y="3400654"/>
            <a:ext cx="23975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讀取與導航</a:t>
            </a:r>
            <a:endParaRPr lang="en-US" sz="1000" dirty="0"/>
          </a:p>
        </p:txBody>
      </p:sp>
      <p:sp>
        <p:nvSpPr>
          <p:cNvPr id="50" name="Text 34"/>
          <p:cNvSpPr txBox="1"/>
          <p:nvPr/>
        </p:nvSpPr>
        <p:spPr>
          <a:xfrm>
            <a:off x="8772754" y="3629254"/>
            <a:ext cx="23975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 URL 並控制瀏覽器導航至目標錄影頁面</a:t>
            </a:r>
            <a:endParaRPr lang="en-US" sz="9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44154" y="4062679"/>
            <a:ext cx="114300" cy="114300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772754" y="4005986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單例模式管理</a:t>
            </a:r>
            <a:endParaRPr lang="en-US" sz="1000" dirty="0"/>
          </a:p>
        </p:txBody>
      </p:sp>
      <p:sp>
        <p:nvSpPr>
          <p:cNvPr id="53" name="Text 36"/>
          <p:cNvSpPr txBox="1"/>
          <p:nvPr/>
        </p:nvSpPr>
        <p:spPr>
          <a:xfrm>
            <a:off x="8772754" y="4234586"/>
            <a:ext cx="2572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確保全域只有一個驅動實例，避免資源衝突與重複啟動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8544154" y="4796028"/>
            <a:ext cx="2833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browser_manager.py</a:t>
            </a:r>
            <a:endParaRPr lang="en-US" sz="900" dirty="0"/>
          </a:p>
        </p:txBody>
      </p:sp>
      <p:sp>
        <p:nvSpPr>
          <p:cNvPr id="55" name="Text 38"/>
          <p:cNvSpPr txBox="1"/>
          <p:nvPr/>
        </p:nvSpPr>
        <p:spPr>
          <a:xfrm>
            <a:off x="8544154" y="4987138"/>
            <a:ext cx="2800807" cy="657454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class BrowserManager: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_instance = None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def get_driver(self): ... </a:t>
            </a:r>
            <a:endParaRPr lang="en-US" sz="800" dirty="0"/>
          </a:p>
        </p:txBody>
      </p:sp>
      <p:sp>
        <p:nvSpPr>
          <p:cNvPr id="56" name="Text 39"/>
          <p:cNvSpPr txBox="1"/>
          <p:nvPr/>
        </p:nvSpPr>
        <p:spPr>
          <a:xfrm>
            <a:off x="9814255" y="6553505"/>
            <a:ext cx="20016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CROSS_CASE_DATA_FLOW_DIAGRAM</a:t>
            </a:r>
            <a:endParaRPr lang="en-US" sz="900" dirty="0"/>
          </a:p>
        </p:txBody>
      </p:sp>
      <p:sp>
        <p:nvSpPr>
          <p:cNvPr id="57" name="Shape 40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60" name="Text 42"/>
          <p:cNvSpPr txBox="1"/>
          <p:nvPr/>
        </p:nvSpPr>
        <p:spPr>
          <a:xfrm>
            <a:off x="990295" y="299923"/>
            <a:ext cx="39483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跨案例數據流與 BrowserManager</a:t>
            </a:r>
            <a:endParaRPr lang="en-US" sz="1800" dirty="0"/>
          </a:p>
        </p:txBody>
      </p:sp>
      <p:sp>
        <p:nvSpPr>
          <p:cNvPr id="61" name="Text 43"/>
          <p:cNvSpPr txBox="1"/>
          <p:nvPr/>
        </p:nvSpPr>
        <p:spPr>
          <a:xfrm>
            <a:off x="8492033" y="309982"/>
            <a:ext cx="257220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DATA PERSISTENCE &amp; SINGLETON</a:t>
            </a:r>
            <a:endParaRPr lang="en-US" sz="1000" dirty="0"/>
          </a:p>
        </p:txBody>
      </p:sp>
      <p:sp>
        <p:nvSpPr>
          <p:cNvPr id="62" name="Text 44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5486400" cy="2476195"/>
          </a:xfrm>
          <a:prstGeom prst="roundRect">
            <a:avLst>
              <a:gd name="adj" fmla="val 22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67198" cy="2451506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733349" y="1647749"/>
            <a:ext cx="533095" cy="5330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 rot="14340000">
            <a:off x="694944" y="1609344"/>
            <a:ext cx="590702" cy="5907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871423" y="1800454"/>
            <a:ext cx="2569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57554" y="1647749"/>
            <a:ext cx="4325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智能狀態感知 (State Awareness)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457554" y="1990649"/>
            <a:ext cx="19202" cy="4379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 txBox="1"/>
          <p:nvPr/>
        </p:nvSpPr>
        <p:spPr>
          <a:xfrm>
            <a:off x="1591056" y="1990649"/>
            <a:ext cx="41532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腳本進入頁面後，優先掃描當前 Session 狀態，而非盲目執行後續操作。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610258" y="2499970"/>
            <a:ext cx="4172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Check: "Login" Button Exists?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1457554" y="2519172"/>
            <a:ext cx="75895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10258" y="2710282"/>
            <a:ext cx="4172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Check: "Session Expired" Alert?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3120" r="-3120"/>
          <a:stretch/>
        </p:blipFill>
        <p:spPr>
          <a:xfrm>
            <a:off x="1457554" y="2728570"/>
            <a:ext cx="75895" cy="1143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48095" y="1371600"/>
            <a:ext cx="5486400" cy="2476195"/>
          </a:xfrm>
          <a:prstGeom prst="roundRect">
            <a:avLst>
              <a:gd name="adj" fmla="val 22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1"/>
          <p:cNvSpPr/>
          <p:nvPr/>
        </p:nvSpPr>
        <p:spPr>
          <a:xfrm>
            <a:off x="6248095" y="1371600"/>
            <a:ext cx="5467198" cy="2451506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2"/>
          <p:cNvSpPr/>
          <p:nvPr/>
        </p:nvSpPr>
        <p:spPr>
          <a:xfrm>
            <a:off x="6524244" y="1647749"/>
            <a:ext cx="533095" cy="5330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3"/>
          <p:cNvSpPr/>
          <p:nvPr/>
        </p:nvSpPr>
        <p:spPr>
          <a:xfrm rot="14340000">
            <a:off x="6486754" y="1609344"/>
            <a:ext cx="590702" cy="5907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6662318" y="1800454"/>
            <a:ext cx="256946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48449" y="1647749"/>
            <a:ext cx="4325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自動補償機制 (Self-Healing)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248449" y="1990649"/>
            <a:ext cx="19202" cy="4379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6"/>
          <p:cNvSpPr txBox="1"/>
          <p:nvPr/>
        </p:nvSpPr>
        <p:spPr>
          <a:xfrm>
            <a:off x="7381951" y="1990649"/>
            <a:ext cx="41532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若偵測到未登錄或 Session 失效，自動觸發重登錄流程，無需人工干預。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248449" y="2499970"/>
            <a:ext cx="4209898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18"/>
          <p:cNvSpPr txBox="1"/>
          <p:nvPr/>
        </p:nvSpPr>
        <p:spPr>
          <a:xfrm>
            <a:off x="7334402" y="2585923"/>
            <a:ext cx="415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 not logged_in: login_via_nx_cloud()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57200" y="4146804"/>
            <a:ext cx="5486400" cy="2257654"/>
          </a:xfrm>
          <a:prstGeom prst="roundRect">
            <a:avLst>
              <a:gd name="adj" fmla="val 273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0"/>
          <p:cNvSpPr/>
          <p:nvPr/>
        </p:nvSpPr>
        <p:spPr>
          <a:xfrm>
            <a:off x="457200" y="4146804"/>
            <a:ext cx="5467198" cy="223479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1"/>
          <p:cNvSpPr/>
          <p:nvPr/>
        </p:nvSpPr>
        <p:spPr>
          <a:xfrm>
            <a:off x="733349" y="4422953"/>
            <a:ext cx="533095" cy="5330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2"/>
          <p:cNvSpPr/>
          <p:nvPr/>
        </p:nvSpPr>
        <p:spPr>
          <a:xfrm rot="14340000">
            <a:off x="694944" y="4385462"/>
            <a:ext cx="590702" cy="5907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914400" y="4575658"/>
            <a:ext cx="171907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457554" y="4422953"/>
            <a:ext cx="4305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顯式等待策略 (Explicit Wait)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1457554" y="4765853"/>
            <a:ext cx="19202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5"/>
          <p:cNvSpPr txBox="1"/>
          <p:nvPr/>
        </p:nvSpPr>
        <p:spPr>
          <a:xfrm>
            <a:off x="1591056" y="4765853"/>
            <a:ext cx="42483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捨棄固定時間的 </a:t>
            </a: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sleep()</a:t>
            </a: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，利用動態輪詢在元素就緒瞬間立即執行。 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1457554" y="5059375"/>
            <a:ext cx="4190695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27"/>
          <p:cNvSpPr txBox="1"/>
          <p:nvPr/>
        </p:nvSpPr>
        <p:spPr>
          <a:xfrm>
            <a:off x="1543507" y="5144414"/>
            <a:ext cx="4134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WebDriverWait(driver, 10).until(...)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248095" y="4146804"/>
            <a:ext cx="5486400" cy="2257654"/>
          </a:xfrm>
          <a:prstGeom prst="roundRect">
            <a:avLst>
              <a:gd name="adj" fmla="val 273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29"/>
          <p:cNvSpPr/>
          <p:nvPr/>
        </p:nvSpPr>
        <p:spPr>
          <a:xfrm>
            <a:off x="6248095" y="4146804"/>
            <a:ext cx="5467198" cy="223479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0"/>
          <p:cNvSpPr/>
          <p:nvPr/>
        </p:nvSpPr>
        <p:spPr>
          <a:xfrm>
            <a:off x="6524244" y="4422953"/>
            <a:ext cx="533095" cy="5330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1"/>
          <p:cNvSpPr/>
          <p:nvPr/>
        </p:nvSpPr>
        <p:spPr>
          <a:xfrm rot="14340000">
            <a:off x="6486754" y="4385462"/>
            <a:ext cx="590702" cy="590702"/>
          </a:xfrm>
          <a:prstGeom prst="ellipse">
            <a:avLst/>
          </a:prstGeom>
          <a:noFill/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76949" y="4575658"/>
            <a:ext cx="228600" cy="2286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248449" y="4422953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精確條件同步 (Expected Conditions)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7248449" y="4765853"/>
            <a:ext cx="19202" cy="21945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34"/>
          <p:cNvSpPr txBox="1"/>
          <p:nvPr/>
        </p:nvSpPr>
        <p:spPr>
          <a:xfrm>
            <a:off x="7381951" y="4765853"/>
            <a:ext cx="37911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針對錄影播放器等複雜組件，使用精確的狀態條件進行判定。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429500" y="5059375"/>
            <a:ext cx="3667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EC.element_to_be_clickable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7248449" y="5077663"/>
            <a:ext cx="105156" cy="1143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429500" y="5268773"/>
            <a:ext cx="3667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EC.presence_of_element_located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7248449" y="5287975"/>
            <a:ext cx="105156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882835" y="6553505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WEB_AUTOMATION_STABILITY_V1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39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334155">
              <a:alpha val="5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53" name="Text 41"/>
          <p:cNvSpPr txBox="1"/>
          <p:nvPr/>
        </p:nvSpPr>
        <p:spPr>
          <a:xfrm>
            <a:off x="990295" y="299923"/>
            <a:ext cx="269748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OAuth 自癒與顯式等待</a:t>
            </a:r>
            <a:endParaRPr lang="en-US" sz="1800" dirty="0"/>
          </a:p>
        </p:txBody>
      </p:sp>
      <p:sp>
        <p:nvSpPr>
          <p:cNvPr id="54" name="Text 42"/>
          <p:cNvSpPr txBox="1"/>
          <p:nvPr/>
        </p:nvSpPr>
        <p:spPr>
          <a:xfrm>
            <a:off x="9612173" y="309982"/>
            <a:ext cx="1429207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WEB_AUTOMATION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1295705"/>
            <a:ext cx="5562295" cy="4304995"/>
          </a:xfrm>
          <a:prstGeom prst="roundRect">
            <a:avLst>
              <a:gd name="adj" fmla="val 75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390449" y="2333549"/>
            <a:ext cx="5544007" cy="9144"/>
          </a:xfrm>
          <a:prstGeom prst="roundRect">
            <a:avLst>
              <a:gd name="adj" fmla="val 146789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 txBox="1"/>
          <p:nvPr/>
        </p:nvSpPr>
        <p:spPr>
          <a:xfrm>
            <a:off x="619049" y="1533449"/>
            <a:ext cx="9628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Appium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79569" y="1561795"/>
            <a:ext cx="991210" cy="247802"/>
          </a:xfrm>
          <a:prstGeom prst="rect">
            <a:avLst/>
          </a:prstGeom>
          <a:noFill/>
          <a:ln w="12700">
            <a:solidFill>
              <a:srgbClr val="991B1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TRADITIONAL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19049" y="1914754"/>
            <a:ext cx="5277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標準化移動端自動化框架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049" y="3248863"/>
            <a:ext cx="5086807" cy="9144"/>
          </a:xfrm>
          <a:prstGeom prst="rect">
            <a:avLst/>
          </a:prstGeom>
          <a:solidFill>
            <a:srgbClr val="334155">
              <a:alpha val="5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2609698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86054" y="2572207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啟動速度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19049" y="2876702"/>
            <a:ext cx="5277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啟動 Session 需數秒至數十秒，重型依賴導致執行緩慢。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9049" y="4084625"/>
            <a:ext cx="5086807" cy="9144"/>
          </a:xfrm>
          <a:prstGeom prst="rect">
            <a:avLst/>
          </a:prstGeom>
          <a:solidFill>
            <a:srgbClr val="334155">
              <a:alpha val="5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619049" y="3445459"/>
            <a:ext cx="171907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5256" y="3407969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DOM 依賴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19049" y="3712464"/>
            <a:ext cx="5277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高度依賴 UI 樹結構。對於 VMS 影像渲染類 App，經常抓取不到元素 ID。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049" y="4281221"/>
            <a:ext cx="152705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6054" y="4243730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環境兼容性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19049" y="4548226"/>
            <a:ext cx="5201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跨版本兼容性差，需在手機端安裝 Appium Settings 等輔助應用。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90449" y="5086807"/>
            <a:ext cx="5544007" cy="9144"/>
          </a:xfrm>
          <a:prstGeom prst="roundRect">
            <a:avLst>
              <a:gd name="adj" fmla="val 3018868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5"/>
          <p:cNvSpPr txBox="1"/>
          <p:nvPr/>
        </p:nvSpPr>
        <p:spPr>
          <a:xfrm>
            <a:off x="2571293" y="5248656"/>
            <a:ext cx="1476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DEPRECATED for VMS 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61895" y="5277002"/>
            <a:ext cx="133502" cy="133502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6248095" y="1295705"/>
            <a:ext cx="5562295" cy="430499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258154" y="2333549"/>
            <a:ext cx="5544007" cy="9144"/>
          </a:xfrm>
          <a:prstGeom prst="roundRect">
            <a:avLst>
              <a:gd name="adj" fmla="val 146789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17"/>
          <p:cNvSpPr txBox="1"/>
          <p:nvPr/>
        </p:nvSpPr>
        <p:spPr>
          <a:xfrm>
            <a:off x="6486754" y="1533449"/>
            <a:ext cx="1467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Native ADB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0853014" y="1561795"/>
            <a:ext cx="781812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SELECTED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6486754" y="1914754"/>
            <a:ext cx="5277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輕量級原生除錯橋接介面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486754" y="3248863"/>
            <a:ext cx="5086807" cy="9144"/>
          </a:xfrm>
          <a:prstGeom prst="rect">
            <a:avLst/>
          </a:prstGeom>
          <a:solidFill>
            <a:srgbClr val="334155">
              <a:alpha val="5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486754" y="2609698"/>
            <a:ext cx="133502" cy="1527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734556" y="2572207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極速響應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486754" y="2876702"/>
            <a:ext cx="5277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毫秒級指令傳送。無中間層損耗，直接與系統底層通訊。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486754" y="4084625"/>
            <a:ext cx="5086807" cy="9144"/>
          </a:xfrm>
          <a:prstGeom prst="rect">
            <a:avLst/>
          </a:prstGeom>
          <a:solidFill>
            <a:srgbClr val="334155">
              <a:alpha val="50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6486754" y="3445459"/>
            <a:ext cx="171907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772046" y="3407969"/>
            <a:ext cx="2085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視覺驅動 (Vision Driven)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6486754" y="3712464"/>
            <a:ext cx="5277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完全不依賴 DOM。結合 OpenCV 視覺定位，完美解決影像渲染定位難題。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486754" y="4281221"/>
            <a:ext cx="190195" cy="1527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791249" y="4243730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零依賴部署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6486754" y="4548226"/>
            <a:ext cx="5277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手機端無需安裝任何 Agent 或補丁。即插即用，維護成本極低。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6258154" y="5086807"/>
            <a:ext cx="5544007" cy="9144"/>
          </a:xfrm>
          <a:prstGeom prst="roundRect">
            <a:avLst>
              <a:gd name="adj" fmla="val 3018868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29"/>
          <p:cNvSpPr txBox="1"/>
          <p:nvPr/>
        </p:nvSpPr>
        <p:spPr>
          <a:xfrm>
            <a:off x="8471916" y="5248656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ADOPTED STRATEGY </a:t>
            </a:r>
            <a:endParaRPr lang="en-US" sz="10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62518" y="5277002"/>
            <a:ext cx="133502" cy="133502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5676595" y="3029407"/>
            <a:ext cx="838505" cy="838505"/>
          </a:xfrm>
          <a:prstGeom prst="ellipse">
            <a:avLst/>
          </a:prstGeom>
          <a:noFill/>
          <a:ln w="50800">
            <a:solidFill>
              <a:srgbClr val="E5E7EB"/>
            </a:solidFill>
            <a:prstDash val="solid"/>
          </a:ln>
          <a:effectLst>
            <a:outerShdw blurRad="241300" dist="12700" dir="16200000" algn="bl" rotWithShape="0">
              <a:srgbClr val="3B82F6">
                <a:alpha val="4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3" name="Text 31"/>
          <p:cNvSpPr/>
          <p:nvPr/>
        </p:nvSpPr>
        <p:spPr>
          <a:xfrm>
            <a:off x="5762549" y="3143707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9951415" y="6553505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MOBILE_STRATEGY_COMPARE_V2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48" name="Text 35"/>
          <p:cNvSpPr txBox="1"/>
          <p:nvPr/>
        </p:nvSpPr>
        <p:spPr>
          <a:xfrm>
            <a:off x="990295" y="299923"/>
            <a:ext cx="42830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Mobile 策略：原生 ADB vs Appium</a:t>
            </a:r>
            <a:endParaRPr lang="en-US" sz="1800" dirty="0"/>
          </a:p>
        </p:txBody>
      </p:sp>
      <p:sp>
        <p:nvSpPr>
          <p:cNvPr id="49" name="Text 36"/>
          <p:cNvSpPr txBox="1"/>
          <p:nvPr/>
        </p:nvSpPr>
        <p:spPr>
          <a:xfrm>
            <a:off x="9211666" y="309982"/>
            <a:ext cx="1843430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STRATEGY COMPARISON</a:t>
            </a:r>
            <a:endParaRPr lang="en-US" sz="1000" dirty="0"/>
          </a:p>
        </p:txBody>
      </p:sp>
      <p:sp>
        <p:nvSpPr>
          <p:cNvPr id="50" name="Text 37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04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457200" y="5982005"/>
            <a:ext cx="11277295" cy="571500"/>
          </a:xfrm>
          <a:prstGeom prst="roundRect">
            <a:avLst>
              <a:gd name="adj" fmla="val 21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39"/>
          <p:cNvSpPr txBox="1"/>
          <p:nvPr/>
        </p:nvSpPr>
        <p:spPr>
          <a:xfrm>
            <a:off x="619049" y="6191402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Core Commands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10403129" y="6191402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 Debug Bridge </a:t>
            </a:r>
            <a:endParaRPr lang="en-US" sz="9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4"/>
          <a:srcRect l="-1911" r="-1911"/>
          <a:stretch/>
        </p:blipFill>
        <p:spPr>
          <a:xfrm>
            <a:off x="10193731" y="6215177"/>
            <a:ext cx="133502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6010351"/>
            <a:ext cx="112772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362102" y="6210605"/>
            <a:ext cx="11468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6" dirty="0">
                <a:solidFill>
                  <a:srgbClr val="60A5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GOAL:</a:t>
            </a:r>
            <a:r>
              <a:rPr lang="en-US" sz="1000" kern="0" spc="26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利用 OpenCV 演算法讓腳本從「盲目等待」進化為「視覺感知」 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457200" y="1895551"/>
            <a:ext cx="11277295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819095"/>
            <a:ext cx="3610051" cy="2885846"/>
          </a:xfrm>
          <a:prstGeom prst="roundRect">
            <a:avLst>
              <a:gd name="adj" fmla="val 167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19302" y="3172054"/>
            <a:ext cx="133502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90549" y="3114446"/>
            <a:ext cx="11475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ROI 局部檢測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94944" y="3590849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精確鎖定播放區域，排除系統狀態列與通知干擾，大幅提升運算效率。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94944" y="4138574"/>
            <a:ext cx="3210458" cy="5532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9A8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roi = screen[y:y+h, x:x+w]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9A8D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Only analyze this area 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75995" y="4881982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排除背景動態雜訊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94944" y="4900270"/>
            <a:ext cx="105156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5995" y="5110582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提升 40% 圖像處理速度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94944" y="5128870"/>
            <a:ext cx="105156" cy="1143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92194" y="2819095"/>
            <a:ext cx="3610051" cy="2885846"/>
          </a:xfrm>
          <a:prstGeom prst="roundRect">
            <a:avLst>
              <a:gd name="adj" fmla="val 167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45152" y="3172054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025542" y="3114446"/>
            <a:ext cx="14346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SSIM 結構相似性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4530852" y="3590849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比對連續幀的結構差異，智能判斷 UI 是否已加載完成，取代固定等待。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530852" y="4138574"/>
            <a:ext cx="3210458" cy="5532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score = ssim(img1, img2)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 score &gt; 0.98: return "Stable" 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711903" y="4881982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解決網路延遲導致的 Flaky Test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30852" y="4900270"/>
            <a:ext cx="105156" cy="1143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711903" y="5110582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實現 "Wait until Stable" 邏輯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4530852" y="5128870"/>
            <a:ext cx="105156" cy="1143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128102" y="2819095"/>
            <a:ext cx="3610051" cy="2885846"/>
          </a:xfrm>
          <a:prstGeom prst="roundRect">
            <a:avLst>
              <a:gd name="adj" fmla="val 167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499348" y="3172054"/>
            <a:ext cx="114300" cy="15270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8861450" y="3114446"/>
            <a:ext cx="235549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Min-Brightness 亮度分析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8365846" y="3590849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數值化判定影像流狀態，有效識別黑屏、加載失敗等異常情況。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8365846" y="4138574"/>
            <a:ext cx="3210458" cy="55321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avg = np.mean(gray_roi)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 avg &gt; THRESHOLD 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8546897" y="4881982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防禦性檢測：確保畫面非全黑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65846" y="4900270"/>
            <a:ext cx="105156" cy="1143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546897" y="5110582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驗證攝影機串流可用性</a:t>
            </a:r>
            <a:endParaRPr lang="en-US" sz="9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365846" y="5128870"/>
            <a:ext cx="105156" cy="1143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644091" y="1343254"/>
            <a:ext cx="533095" cy="53309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0"/>
          <a:srcRect l="-1773" r="-1773"/>
          <a:stretch/>
        </p:blipFill>
        <p:spPr>
          <a:xfrm>
            <a:off x="1844345" y="1524305"/>
            <a:ext cx="133502" cy="171907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1218895" y="1990649"/>
            <a:ext cx="1390802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24"/>
          <p:cNvSpPr txBox="1"/>
          <p:nvPr/>
        </p:nvSpPr>
        <p:spPr>
          <a:xfrm>
            <a:off x="1304849" y="2038198"/>
            <a:ext cx="1219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ADB Capture</a:t>
            </a:r>
            <a:endParaRPr lang="en-US" sz="900" dirty="0"/>
          </a:p>
        </p:txBody>
      </p:sp>
      <p:sp>
        <p:nvSpPr>
          <p:cNvPr id="38" name="Text 25"/>
          <p:cNvSpPr txBox="1"/>
          <p:nvPr/>
        </p:nvSpPr>
        <p:spPr>
          <a:xfrm>
            <a:off x="1251814" y="2190902"/>
            <a:ext cx="1326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Raw Screenshot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4518965" y="1343254"/>
            <a:ext cx="533095" cy="53309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00016" y="1524305"/>
            <a:ext cx="171907" cy="171907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4184294" y="1990649"/>
            <a:ext cx="1209751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28"/>
          <p:cNvSpPr txBox="1"/>
          <p:nvPr/>
        </p:nvSpPr>
        <p:spPr>
          <a:xfrm>
            <a:off x="4270248" y="2038198"/>
            <a:ext cx="10387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ROI Crop</a:t>
            </a:r>
            <a:endParaRPr lang="en-US" sz="900" dirty="0"/>
          </a:p>
        </p:txBody>
      </p:sp>
      <p:sp>
        <p:nvSpPr>
          <p:cNvPr id="43" name="Text 29"/>
          <p:cNvSpPr txBox="1"/>
          <p:nvPr/>
        </p:nvSpPr>
        <p:spPr>
          <a:xfrm>
            <a:off x="4216298" y="2190902"/>
            <a:ext cx="1144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Isolate Player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7442302" y="1343254"/>
            <a:ext cx="533095" cy="53309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/>
        </p:blipFill>
        <p:spPr>
          <a:xfrm>
            <a:off x="7599578" y="1524305"/>
            <a:ext cx="219456" cy="171907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6968642" y="1990649"/>
            <a:ext cx="1485900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32"/>
          <p:cNvSpPr txBox="1"/>
          <p:nvPr/>
        </p:nvSpPr>
        <p:spPr>
          <a:xfrm>
            <a:off x="7054596" y="2038198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Algorithm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6975043" y="2190902"/>
            <a:ext cx="1474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SSIM / Brightness</a:t>
            </a:r>
            <a:endParaRPr lang="en-US" sz="1200" dirty="0"/>
          </a:p>
        </p:txBody>
      </p:sp>
      <p:sp>
        <p:nvSpPr>
          <p:cNvPr id="49" name="Shape 34"/>
          <p:cNvSpPr/>
          <p:nvPr/>
        </p:nvSpPr>
        <p:spPr>
          <a:xfrm>
            <a:off x="10234879" y="1343254"/>
            <a:ext cx="533095" cy="533095"/>
          </a:xfrm>
          <a:prstGeom prst="ellipse">
            <a:avLst/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415930" y="1524305"/>
            <a:ext cx="171907" cy="171907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10030968" y="1990649"/>
            <a:ext cx="942746" cy="476402"/>
          </a:xfrm>
          <a:prstGeom prst="roundRect">
            <a:avLst>
              <a:gd name="adj" fmla="val 153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36"/>
          <p:cNvSpPr txBox="1"/>
          <p:nvPr/>
        </p:nvSpPr>
        <p:spPr>
          <a:xfrm>
            <a:off x="10116922" y="2038198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Result</a:t>
            </a:r>
            <a:endParaRPr lang="en-US" sz="900" dirty="0"/>
          </a:p>
        </p:txBody>
      </p:sp>
      <p:sp>
        <p:nvSpPr>
          <p:cNvPr id="53" name="Text 37"/>
          <p:cNvSpPr txBox="1"/>
          <p:nvPr/>
        </p:nvSpPr>
        <p:spPr>
          <a:xfrm>
            <a:off x="10088575" y="2190902"/>
            <a:ext cx="827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Pass / Fail</a:t>
            </a:r>
            <a:endParaRPr lang="en-US" sz="1200" dirty="0"/>
          </a:p>
        </p:txBody>
      </p:sp>
      <p:sp>
        <p:nvSpPr>
          <p:cNvPr id="54" name="Text 38"/>
          <p:cNvSpPr txBox="1"/>
          <p:nvPr/>
        </p:nvSpPr>
        <p:spPr>
          <a:xfrm>
            <a:off x="10294315" y="6553505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OPENCV_ALGO_MATRIX_V4</a:t>
            </a:r>
            <a:endParaRPr lang="en-US" sz="900" dirty="0"/>
          </a:p>
        </p:txBody>
      </p:sp>
      <p:sp>
        <p:nvSpPr>
          <p:cNvPr id="55" name="Shape 3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40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59" name="Text 42"/>
          <p:cNvSpPr txBox="1"/>
          <p:nvPr/>
        </p:nvSpPr>
        <p:spPr>
          <a:xfrm>
            <a:off x="990295" y="299923"/>
            <a:ext cx="22841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移動端視覺檢測算法</a:t>
            </a:r>
            <a:endParaRPr lang="en-US" sz="1800" dirty="0"/>
          </a:p>
        </p:txBody>
      </p:sp>
      <p:sp>
        <p:nvSpPr>
          <p:cNvPr id="60" name="Text 43"/>
          <p:cNvSpPr txBox="1"/>
          <p:nvPr/>
        </p:nvSpPr>
        <p:spPr>
          <a:xfrm>
            <a:off x="9531706" y="309982"/>
            <a:ext cx="1516075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381305" y="1295705"/>
            <a:ext cx="6445606" cy="51819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0449" y="1304849"/>
            <a:ext cx="6429146" cy="381305"/>
          </a:xfrm>
          <a:prstGeom prst="roundRect">
            <a:avLst>
              <a:gd name="adj" fmla="val 7194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2"/>
          <p:cNvSpPr/>
          <p:nvPr/>
        </p:nvSpPr>
        <p:spPr>
          <a:xfrm>
            <a:off x="390449" y="1677010"/>
            <a:ext cx="6429146" cy="9144"/>
          </a:xfrm>
          <a:prstGeom prst="roundRect">
            <a:avLst>
              <a:gd name="adj" fmla="val 3000000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3"/>
          <p:cNvSpPr/>
          <p:nvPr/>
        </p:nvSpPr>
        <p:spPr>
          <a:xfrm>
            <a:off x="543154" y="143377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733349" y="143377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5"/>
          <p:cNvSpPr/>
          <p:nvPr/>
        </p:nvSpPr>
        <p:spPr>
          <a:xfrm>
            <a:off x="923544" y="143377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 txBox="1"/>
          <p:nvPr/>
        </p:nvSpPr>
        <p:spPr>
          <a:xfrm>
            <a:off x="1057046" y="1414577"/>
            <a:ext cx="5667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actions/mobile/mobile_actions.py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933602" y="1914754"/>
            <a:ext cx="9144" cy="43241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 txBox="1"/>
          <p:nvPr/>
        </p:nvSpPr>
        <p:spPr>
          <a:xfrm>
            <a:off x="543154" y="1914754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3154" y="2131466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43154" y="2348179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3154" y="2564892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43154" y="2781605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43154" y="2998318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3154" y="3215030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3154" y="3431743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43154" y="3648456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43154" y="3865169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43154" y="4081882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3154" y="4298594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43154" y="4515307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43154" y="4731106"/>
            <a:ext cx="238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93622" y="1914754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r>
              <a:rPr lang="en-US" sz="1000" dirty="0">
                <a:solidFill>
                  <a:srgbClr val="E5C0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MobileActions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(BaseAction):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93622" y="2131466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login_and_play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(self, user, pwd):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093622" y="2348179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1. 執行登錄 (Action-Based)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3622" y="2564892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self.login_page.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input_user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(user)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93622" y="2781605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self.login_page.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click_login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093622" y="2998318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2. 視覺穩定性等待 (SSIM)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093622" y="3215030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self.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wait_for_stable_ui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093622" y="3431743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C637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3. 播放並驗證亮度 (Min-Brightness)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93622" y="3648456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self.main_page.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play_camera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(0)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93622" y="3865169"/>
            <a:ext cx="56107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78D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self.</a:t>
            </a:r>
            <a:r>
              <a:rPr lang="en-US" sz="1000" dirty="0">
                <a:solidFill>
                  <a:srgbClr val="61AFE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verify_video_active</a:t>
            </a: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207301" y="1638605"/>
            <a:ext cx="46104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 txBox="1"/>
          <p:nvPr/>
        </p:nvSpPr>
        <p:spPr>
          <a:xfrm>
            <a:off x="7435901" y="1371600"/>
            <a:ext cx="44577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Business Logic Flow </a:t>
            </a:r>
            <a:endParaRPr lang="en-US" sz="10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7207301" y="1407262"/>
            <a:ext cx="152705" cy="133502"/>
          </a:xfrm>
          <a:prstGeom prst="rect">
            <a:avLst/>
          </a:prstGeom>
        </p:spPr>
      </p:pic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 t="-18" b="-18"/>
          <a:stretch/>
        </p:blipFill>
        <p:spPr>
          <a:xfrm>
            <a:off x="7207301" y="1876349"/>
            <a:ext cx="4604004" cy="905256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7388352" y="2066544"/>
            <a:ext cx="142646" cy="228600"/>
          </a:xfrm>
          <a:prstGeom prst="roundRect">
            <a:avLst>
              <a:gd name="adj" fmla="val 320514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5"/>
          <p:cNvSpPr/>
          <p:nvPr/>
        </p:nvSpPr>
        <p:spPr>
          <a:xfrm>
            <a:off x="7349947" y="2066544"/>
            <a:ext cx="2194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7637983" y="2029054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Action-Based 封裝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7637983" y="225765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將複雜的業務流程（如登錄、輸入憑據）封裝為單一函數，對上層測試腳本隱藏底層 ADB 操作細節，實現業務邏輯與底層實現的解耦。</a:t>
            </a:r>
            <a:endParaRPr lang="en-US" sz="9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7207301" y="2933395"/>
            <a:ext cx="4604004" cy="93360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7388352" y="3124505"/>
            <a:ext cx="123444" cy="228600"/>
          </a:xfrm>
          <a:prstGeom prst="roundRect">
            <a:avLst>
              <a:gd name="adj" fmla="val 370370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39"/>
          <p:cNvSpPr/>
          <p:nvPr/>
        </p:nvSpPr>
        <p:spPr>
          <a:xfrm>
            <a:off x="7349947" y="3124505"/>
            <a:ext cx="2002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B5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7626096" y="3086100"/>
            <a:ext cx="4153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視覺穩定性 (Visual Stability)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7626096" y="3314700"/>
            <a:ext cx="41148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整合 </a:t>
            </a:r>
            <a:r>
              <a:rPr lang="en-US" sz="900" dirty="0">
                <a:solidFill>
                  <a:srgbClr val="DDD6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SSIM</a:t>
            </a: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算法，智能判斷 UI 加載動畫（Spinner）是否結束。讓腳本具備「看」的能力，等畫面不動了才進行下一步，取代不穩定的固定 sleep。 </a:t>
            </a:r>
            <a:endParaRPr lang="en-US" sz="9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7207301" y="4019702"/>
            <a:ext cx="4604004" cy="933602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7388352" y="4209898"/>
            <a:ext cx="142646" cy="228600"/>
          </a:xfrm>
          <a:prstGeom prst="roundRect">
            <a:avLst>
              <a:gd name="adj" fmla="val 320514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3"/>
          <p:cNvSpPr/>
          <p:nvPr/>
        </p:nvSpPr>
        <p:spPr>
          <a:xfrm>
            <a:off x="7349947" y="4209898"/>
            <a:ext cx="2194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E7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7643470" y="4172407"/>
            <a:ext cx="4134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EE7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執行即驗證 (Active Verification)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7643470" y="4401007"/>
            <a:ext cx="4096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在 Action 層直接整合 </a:t>
            </a:r>
            <a:r>
              <a:rPr lang="en-US" sz="9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Min-Brightness</a:t>
            </a: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演算法，在觸發播放後立即驗證畫面亮度，確保每一步操作都有明確的視覺反饋結果。 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7207301" y="5695798"/>
            <a:ext cx="4610405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47"/>
          <p:cNvSpPr/>
          <p:nvPr/>
        </p:nvSpPr>
        <p:spPr>
          <a:xfrm>
            <a:off x="7330745" y="5820156"/>
            <a:ext cx="609905" cy="4572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7550201" y="5934456"/>
            <a:ext cx="171907" cy="228600"/>
          </a:xfrm>
          <a:prstGeom prst="rect">
            <a:avLst/>
          </a:prstGeom>
        </p:spPr>
      </p:pic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59598" y="6096305"/>
            <a:ext cx="209398" cy="209398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093354" y="5857646"/>
            <a:ext cx="1686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FUNCTION RETURN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8093354" y="6048756"/>
            <a:ext cx="1686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 (Stream Active)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10951769" y="5896051"/>
            <a:ext cx="7370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Flow Status</a:t>
            </a:r>
            <a:endParaRPr lang="en-US" sz="900" dirty="0"/>
          </a:p>
        </p:txBody>
      </p:sp>
      <p:sp>
        <p:nvSpPr>
          <p:cNvPr id="61" name="Text 51"/>
          <p:cNvSpPr txBox="1"/>
          <p:nvPr/>
        </p:nvSpPr>
        <p:spPr>
          <a:xfrm>
            <a:off x="10993831" y="6048756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COMPLETED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10431475" y="6553505"/>
            <a:ext cx="1381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MOBILE_ACTIONS_V2.0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7200" y="261518"/>
            <a:ext cx="381305" cy="381305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428854" y="261518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66" name="Text 55"/>
          <p:cNvSpPr txBox="1"/>
          <p:nvPr/>
        </p:nvSpPr>
        <p:spPr>
          <a:xfrm>
            <a:off x="990295" y="299923"/>
            <a:ext cx="27724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移動端業務流程封裝範例</a:t>
            </a:r>
            <a:endParaRPr lang="en-US" sz="1800" dirty="0"/>
          </a:p>
        </p:txBody>
      </p:sp>
      <p:sp>
        <p:nvSpPr>
          <p:cNvPr id="67" name="Text 56"/>
          <p:cNvSpPr txBox="1"/>
          <p:nvPr/>
        </p:nvSpPr>
        <p:spPr>
          <a:xfrm>
            <a:off x="8571586" y="309982"/>
            <a:ext cx="2486254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ACTION LAYER IMPLEMENTATION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11094415" y="357530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81305" y="1037844"/>
            <a:ext cx="171907" cy="1527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6598" y="981151"/>
            <a:ext cx="252557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Technical Achievements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81305" y="1399946"/>
            <a:ext cx="2686507" cy="1276502"/>
          </a:xfrm>
          <a:prstGeom prst="roundRect">
            <a:avLst>
              <a:gd name="adj" fmla="val 641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705002" y="1714500"/>
            <a:ext cx="133502" cy="1527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455164" y="1600200"/>
            <a:ext cx="4956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POM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580644" y="2095805"/>
            <a:ext cx="2468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高解耦架構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580644" y="2324405"/>
            <a:ext cx="24688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UI 與邏輯完全分離，維護成本降低 80%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95498" y="1399946"/>
            <a:ext cx="2686507" cy="1276502"/>
          </a:xfrm>
          <a:prstGeom prst="roundRect">
            <a:avLst>
              <a:gd name="adj" fmla="val 641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3619195" y="1714500"/>
            <a:ext cx="133502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233111" y="1600200"/>
            <a:ext cx="629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&gt;99%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3495751" y="2095805"/>
            <a:ext cx="2468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極致穩定性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3495751" y="2324405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 Wait + VLM/OCR 多重識別策略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210605" y="1399946"/>
            <a:ext cx="2686507" cy="1276502"/>
          </a:xfrm>
          <a:prstGeom prst="roundRect">
            <a:avLst>
              <a:gd name="adj" fmla="val 641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6543446" y="1714500"/>
            <a:ext cx="114300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72984" y="1600200"/>
            <a:ext cx="9052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3-in-1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6409944" y="2095805"/>
            <a:ext cx="2468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跨平台一致性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6409944" y="2324405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Desktop, Web, Mobile 統一框架管理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9124798" y="1399946"/>
            <a:ext cx="2686507" cy="1276502"/>
          </a:xfrm>
          <a:prstGeom prst="roundRect">
            <a:avLst>
              <a:gd name="adj" fmla="val 641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39351" y="1714500"/>
            <a:ext cx="152705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925251" y="1600200"/>
            <a:ext cx="771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CI/CD</a:t>
            </a:r>
            <a:endParaRPr lang="en-US" sz="1800" dirty="0"/>
          </a:p>
        </p:txBody>
      </p:sp>
      <p:sp>
        <p:nvSpPr>
          <p:cNvPr id="24" name="Text 16"/>
          <p:cNvSpPr txBox="1"/>
          <p:nvPr/>
        </p:nvSpPr>
        <p:spPr>
          <a:xfrm>
            <a:off x="9325051" y="2095805"/>
            <a:ext cx="2468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工程化實踐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9325051" y="2324405"/>
            <a:ext cx="24688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自動化報告、失敗現場保留與即時通知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381305" y="2980944"/>
            <a:ext cx="11430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3353105"/>
            <a:ext cx="152705" cy="15270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47395" y="3295498"/>
            <a:ext cx="16056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4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Evolution Path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1524305" y="4095598"/>
            <a:ext cx="9144000" cy="384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637215" y="6553505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ROADMAP_FINAL_V4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533095" y="4449470"/>
            <a:ext cx="3504895" cy="2029054"/>
          </a:xfrm>
          <a:prstGeom prst="roundRect">
            <a:avLst>
              <a:gd name="adj" fmla="val 338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2"/>
          <p:cNvSpPr/>
          <p:nvPr/>
        </p:nvSpPr>
        <p:spPr>
          <a:xfrm>
            <a:off x="1489558" y="4687214"/>
            <a:ext cx="1595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Short Term (3-6 mo)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308506" y="5030114"/>
            <a:ext cx="196138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增強 AI 識別 &amp; 效率</a:t>
            </a:r>
            <a:endParaRPr lang="en-US" sz="15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923544" y="5487314"/>
            <a:ext cx="85954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86307" y="5448910"/>
            <a:ext cx="2637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 GPT-4V 提升 OCR 準確率至 99.9%</a:t>
            </a:r>
            <a:endParaRPr lang="en-US" sz="10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923544" y="5791810"/>
            <a:ext cx="85954" cy="13350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086307" y="5754319"/>
            <a:ext cx="2791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優化並行執行 (Parallel Execution)，減少 30% 耗時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2057400" y="3866998"/>
            <a:ext cx="457200" cy="362102"/>
          </a:xfrm>
          <a:prstGeom prst="roundRect">
            <a:avLst>
              <a:gd name="adj" fmla="val 252526"/>
            </a:avLst>
          </a:prstGeom>
          <a:noFill/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2219249" y="3967582"/>
            <a:ext cx="133502" cy="152705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4343400" y="4449470"/>
            <a:ext cx="3504895" cy="2029054"/>
          </a:xfrm>
          <a:prstGeom prst="roundRect">
            <a:avLst>
              <a:gd name="adj" fmla="val 338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28"/>
          <p:cNvSpPr/>
          <p:nvPr/>
        </p:nvSpPr>
        <p:spPr>
          <a:xfrm>
            <a:off x="5334610" y="4687214"/>
            <a:ext cx="1526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Mid Term (6-12 mo)</a:t>
            </a:r>
            <a:endParaRPr lang="en-US" sz="900" dirty="0"/>
          </a:p>
        </p:txBody>
      </p:sp>
      <p:sp>
        <p:nvSpPr>
          <p:cNvPr id="42" name="Text 29"/>
          <p:cNvSpPr txBox="1"/>
          <p:nvPr/>
        </p:nvSpPr>
        <p:spPr>
          <a:xfrm>
            <a:off x="5093208" y="5030114"/>
            <a:ext cx="20071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雲端平台 &amp; 自動生成</a:t>
            </a:r>
            <a:endParaRPr lang="en-US" sz="15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4733849" y="5487314"/>
            <a:ext cx="85954" cy="133502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4895698" y="5448910"/>
            <a:ext cx="29132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Cloud Execution Platform 管理介面</a:t>
            </a:r>
            <a:endParaRPr lang="en-US" sz="10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4733849" y="5791810"/>
            <a:ext cx="85954" cy="133502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4895698" y="5754319"/>
            <a:ext cx="3100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基於需求文檔 AI 自動生成測試腳本 (Test Gen)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5867705" y="3866998"/>
            <a:ext cx="457200" cy="362102"/>
          </a:xfrm>
          <a:prstGeom prst="roundRect">
            <a:avLst>
              <a:gd name="adj" fmla="val 252526"/>
            </a:avLst>
          </a:prstGeom>
          <a:noFill/>
          <a:ln w="508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6001207" y="3967582"/>
            <a:ext cx="190195" cy="152705"/>
          </a:xfrm>
          <a:prstGeom prst="rect">
            <a:avLst/>
          </a:prstGeom>
        </p:spPr>
      </p:pic>
      <p:sp>
        <p:nvSpPr>
          <p:cNvPr id="49" name="Shape 33"/>
          <p:cNvSpPr/>
          <p:nvPr/>
        </p:nvSpPr>
        <p:spPr>
          <a:xfrm>
            <a:off x="8153705" y="4449470"/>
            <a:ext cx="3504895" cy="2029054"/>
          </a:xfrm>
          <a:prstGeom prst="roundRect">
            <a:avLst>
              <a:gd name="adj" fmla="val 338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34"/>
          <p:cNvSpPr/>
          <p:nvPr/>
        </p:nvSpPr>
        <p:spPr>
          <a:xfrm>
            <a:off x="9144914" y="4687214"/>
            <a:ext cx="1526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Long Term (12+ mo)</a:t>
            </a:r>
            <a:endParaRPr lang="en-US" sz="900" dirty="0"/>
          </a:p>
        </p:txBody>
      </p:sp>
      <p:sp>
        <p:nvSpPr>
          <p:cNvPr id="51" name="Text 35"/>
          <p:cNvSpPr txBox="1"/>
          <p:nvPr/>
        </p:nvSpPr>
        <p:spPr>
          <a:xfrm>
            <a:off x="8863279" y="5030114"/>
            <a:ext cx="20857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Self-Healing &amp; 自治</a:t>
            </a:r>
            <a:endParaRPr lang="en-US" sz="150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15"/>
          <a:srcRect l="-1507" r="-1507"/>
          <a:stretch/>
        </p:blipFill>
        <p:spPr>
          <a:xfrm>
            <a:off x="8544154" y="5487314"/>
            <a:ext cx="85954" cy="133502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8706002" y="5448910"/>
            <a:ext cx="28227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全自動定位修復 (Self-Healing Locators)</a:t>
            </a:r>
            <a:endParaRPr lang="en-US" sz="10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5"/>
          <a:srcRect l="-1507" r="-1507"/>
          <a:stretch/>
        </p:blipFill>
        <p:spPr>
          <a:xfrm>
            <a:off x="8544154" y="5791810"/>
            <a:ext cx="85954" cy="133502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8706002" y="5754319"/>
            <a:ext cx="2791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Autonomous Testing：AI 自主探索與缺陷發現</a:t>
            </a:r>
            <a:endParaRPr lang="en-US" sz="1000" dirty="0"/>
          </a:p>
        </p:txBody>
      </p:sp>
      <p:sp>
        <p:nvSpPr>
          <p:cNvPr id="56" name="Shape 38"/>
          <p:cNvSpPr/>
          <p:nvPr/>
        </p:nvSpPr>
        <p:spPr>
          <a:xfrm>
            <a:off x="9677095" y="3866998"/>
            <a:ext cx="457200" cy="362102"/>
          </a:xfrm>
          <a:prstGeom prst="roundRect">
            <a:avLst>
              <a:gd name="adj" fmla="val 252526"/>
            </a:avLst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6"/>
          <a:srcRect l="-33" r="-33"/>
          <a:stretch/>
        </p:blipFill>
        <p:spPr>
          <a:xfrm>
            <a:off x="9820656" y="3967582"/>
            <a:ext cx="171907" cy="152705"/>
          </a:xfrm>
          <a:prstGeom prst="rect">
            <a:avLst/>
          </a:prstGeom>
        </p:spPr>
      </p:pic>
      <p:sp>
        <p:nvSpPr>
          <p:cNvPr id="58" name="Shape 39"/>
          <p:cNvSpPr/>
          <p:nvPr/>
        </p:nvSpPr>
        <p:spPr>
          <a:xfrm>
            <a:off x="0" y="59070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57200" y="105156"/>
            <a:ext cx="381305" cy="381305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428854" y="105156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Nx</a:t>
            </a:r>
            <a:endParaRPr lang="en-US" sz="1300" dirty="0"/>
          </a:p>
        </p:txBody>
      </p:sp>
      <p:sp>
        <p:nvSpPr>
          <p:cNvPr id="61" name="Text 41"/>
          <p:cNvSpPr txBox="1"/>
          <p:nvPr/>
        </p:nvSpPr>
        <p:spPr>
          <a:xfrm>
            <a:off x="990295" y="142646"/>
            <a:ext cx="178033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總結與未來規劃</a:t>
            </a:r>
            <a:endParaRPr lang="en-US" sz="1800" dirty="0"/>
          </a:p>
        </p:txBody>
      </p:sp>
      <p:sp>
        <p:nvSpPr>
          <p:cNvPr id="62" name="Text 42"/>
          <p:cNvSpPr txBox="1"/>
          <p:nvPr/>
        </p:nvSpPr>
        <p:spPr>
          <a:xfrm>
            <a:off x="9372600" y="152705"/>
            <a:ext cx="1674266" cy="2862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SUMMARY &amp; ROADMAP</a:t>
            </a:r>
            <a:endParaRPr lang="en-US" sz="1000" dirty="0"/>
          </a:p>
        </p:txBody>
      </p:sp>
      <p:sp>
        <p:nvSpPr>
          <p:cNvPr id="63" name="Text 43"/>
          <p:cNvSpPr txBox="1"/>
          <p:nvPr/>
        </p:nvSpPr>
        <p:spPr>
          <a:xfrm>
            <a:off x="11094415" y="200254"/>
            <a:ext cx="724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PHASE 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2490</Words>
  <Application>Microsoft Office PowerPoint</Application>
  <PresentationFormat>寬螢幕</PresentationFormat>
  <Paragraphs>607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Menlo</vt:lpstr>
      <vt:lpstr>Noto Sans TC</vt:lpstr>
      <vt:lpstr>ui-monospace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CHENGLUN FAN</cp:lastModifiedBy>
  <cp:revision>3</cp:revision>
  <dcterms:created xsi:type="dcterms:W3CDTF">2026-02-05T04:01:34Z</dcterms:created>
  <dcterms:modified xsi:type="dcterms:W3CDTF">2026-02-05T04:24:36Z</dcterms:modified>
</cp:coreProperties>
</file>