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1474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84127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041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067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069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920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481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242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9501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67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387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4343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0450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pPr algn="ctr"/>
            <a:r>
              <a:rPr sz="5400" dirty="0" err="1"/>
              <a:t>自動化測試框架</a:t>
            </a:r>
            <a:endParaRPr sz="5400" dirty="0"/>
          </a:p>
          <a:p>
            <a:pPr algn="ctr"/>
            <a:r>
              <a:rPr sz="5400" dirty="0"/>
              <a:t>Excel </a:t>
            </a:r>
            <a:r>
              <a:rPr sz="5400" dirty="0" err="1"/>
              <a:t>驅動與</a:t>
            </a:r>
            <a:r>
              <a:rPr sz="5400" dirty="0"/>
              <a:t> AI </a:t>
            </a:r>
            <a:r>
              <a:rPr sz="5400" dirty="0" err="1"/>
              <a:t>視覺整合</a:t>
            </a:r>
            <a:endParaRPr sz="5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 err="1"/>
              <a:t>基於</a:t>
            </a:r>
            <a:r>
              <a:rPr dirty="0"/>
              <a:t> Python </a:t>
            </a:r>
            <a:r>
              <a:rPr dirty="0" err="1"/>
              <a:t>的多平台</a:t>
            </a:r>
            <a:r>
              <a:rPr dirty="0"/>
              <a:t> (Desktop/Web/Mobile) </a:t>
            </a:r>
            <a:r>
              <a:rPr dirty="0" err="1"/>
              <a:t>解決方案</a:t>
            </a:r>
            <a:endParaRPr dirty="0"/>
          </a:p>
          <a:p>
            <a:endParaRPr dirty="0"/>
          </a:p>
          <a:p>
            <a:r>
              <a:rPr dirty="0" err="1"/>
              <a:t>報告人：</a:t>
            </a:r>
            <a:r>
              <a:rPr lang="en-US" altLang="zh-CN" dirty="0" err="1"/>
              <a:t>Billy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面臨挑戰與設計目標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 sz="2400"/>
            </a:pPr>
            <a:r>
              <a:t>痛點 1：測試維護成本高</a:t>
            </a:r>
          </a:p>
          <a:p>
            <a:pPr lvl="1">
              <a:defRPr sz="2400"/>
            </a:pPr>
            <a:r>
              <a:t>傳統腳本寫死在代碼中，需求變更需大量修改</a:t>
            </a:r>
          </a:p>
          <a:p>
            <a:pPr>
              <a:defRPr sz="2400"/>
            </a:pPr>
            <a:r>
              <a:t>痛點 2：桌面端自動化不穩定</a:t>
            </a:r>
          </a:p>
          <a:p>
            <a:pPr lvl="1">
              <a:defRPr sz="2400"/>
            </a:pPr>
            <a:r>
              <a:t>傳統座標/圖像比對對解析度與渲染差異容忍度低</a:t>
            </a:r>
          </a:p>
          <a:p>
            <a:pPr>
              <a:defRPr sz="2400"/>
            </a:pPr>
            <a:r>
              <a:t>痛點 3：技術門檻高</a:t>
            </a:r>
          </a:p>
          <a:p>
            <a:pPr lvl="1">
              <a:defRPr sz="2400"/>
            </a:pPr>
            <a:r>
              <a:t>非技術人員 (QA/PM) 難以參與維護</a:t>
            </a:r>
          </a:p>
          <a:p>
            <a:pPr>
              <a:defRPr sz="2400"/>
            </a:pPr>
            <a:endParaRPr/>
          </a:p>
          <a:p>
            <a:pPr>
              <a:defRPr sz="2400"/>
            </a:pPr>
            <a:r>
              <a:t>設計目標：</a:t>
            </a:r>
          </a:p>
          <a:p>
            <a:pPr lvl="1">
              <a:defRPr sz="2400"/>
            </a:pPr>
            <a:r>
              <a:t>數據驅動 (Data-Driven)</a:t>
            </a:r>
          </a:p>
          <a:p>
            <a:pPr lvl="1">
              <a:defRPr sz="2400"/>
            </a:pPr>
            <a:r>
              <a:t>高魯棒性 (Robustness, AI 輔助)</a:t>
            </a:r>
          </a:p>
          <a:p>
            <a:pPr lvl="1">
              <a:defRPr sz="2400"/>
            </a:pPr>
            <a:r>
              <a:t>低門檻 (Excel + GUI)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核心架構 (Architecture)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 sz="2400"/>
            </a:pPr>
            <a:r>
              <a:rPr dirty="0"/>
              <a:t>1. </a:t>
            </a:r>
            <a:r>
              <a:rPr dirty="0" err="1"/>
              <a:t>測試定義層</a:t>
            </a:r>
            <a:r>
              <a:rPr dirty="0"/>
              <a:t> (Definition Layer)</a:t>
            </a:r>
          </a:p>
          <a:p>
            <a:pPr lvl="1">
              <a:defRPr sz="2400"/>
            </a:pPr>
            <a:r>
              <a:rPr dirty="0"/>
              <a:t>Excel (TestPlan.xlsx): </a:t>
            </a:r>
            <a:r>
              <a:rPr dirty="0" err="1"/>
              <a:t>定義步驟與參數</a:t>
            </a:r>
            <a:endParaRPr dirty="0"/>
          </a:p>
          <a:p>
            <a:pPr>
              <a:defRPr sz="2400"/>
            </a:pPr>
            <a:r>
              <a:rPr dirty="0"/>
              <a:t>2. </a:t>
            </a:r>
            <a:r>
              <a:rPr dirty="0" err="1"/>
              <a:t>執行引擎層</a:t>
            </a:r>
            <a:r>
              <a:rPr dirty="0"/>
              <a:t> (Engine Layer)</a:t>
            </a:r>
          </a:p>
          <a:p>
            <a:pPr lvl="1">
              <a:defRPr sz="2400"/>
            </a:pPr>
            <a:r>
              <a:rPr dirty="0" err="1"/>
              <a:t>TestRunner</a:t>
            </a:r>
            <a:r>
              <a:rPr dirty="0"/>
              <a:t>: </a:t>
            </a:r>
            <a:r>
              <a:rPr dirty="0" err="1"/>
              <a:t>調度核心</a:t>
            </a:r>
            <a:r>
              <a:rPr dirty="0"/>
              <a:t> (</a:t>
            </a:r>
            <a:r>
              <a:rPr dirty="0" err="1"/>
              <a:t>Pytest</a:t>
            </a:r>
            <a:r>
              <a:rPr dirty="0"/>
              <a:t>)</a:t>
            </a:r>
          </a:p>
          <a:p>
            <a:pPr lvl="1">
              <a:defRPr sz="2400"/>
            </a:pPr>
            <a:r>
              <a:rPr dirty="0" err="1"/>
              <a:t>StepTranslator</a:t>
            </a:r>
            <a:r>
              <a:rPr dirty="0"/>
              <a:t>: </a:t>
            </a:r>
            <a:r>
              <a:rPr dirty="0" err="1"/>
              <a:t>關鍵字翻譯器</a:t>
            </a:r>
            <a:endParaRPr dirty="0"/>
          </a:p>
          <a:p>
            <a:pPr>
              <a:defRPr sz="2400"/>
            </a:pPr>
            <a:r>
              <a:rPr dirty="0"/>
              <a:t>3</a:t>
            </a:r>
            <a:r>
              <a:rPr sz="2400" dirty="0"/>
              <a:t>. </a:t>
            </a:r>
            <a:r>
              <a:rPr sz="2400" dirty="0" err="1"/>
              <a:t>業務邏輯層</a:t>
            </a:r>
            <a:r>
              <a:rPr sz="2400" dirty="0"/>
              <a:t> (Action Layer)</a:t>
            </a:r>
          </a:p>
          <a:p>
            <a:pPr lvl="1">
              <a:defRPr sz="2400"/>
            </a:pPr>
            <a:r>
              <a:rPr dirty="0" err="1"/>
              <a:t>NxPocActions</a:t>
            </a:r>
            <a:r>
              <a:rPr dirty="0"/>
              <a:t>, </a:t>
            </a:r>
            <a:r>
              <a:rPr dirty="0" err="1"/>
              <a:t>NxMobileActions</a:t>
            </a:r>
            <a:endParaRPr lang="en-US" dirty="0"/>
          </a:p>
          <a:p>
            <a:pPr marL="91440" lvl="1" indent="-91440">
              <a:spcBef>
                <a:spcPts val="1200"/>
              </a:spcBef>
              <a:spcAft>
                <a:spcPts val="200"/>
              </a:spcAft>
              <a:buSzPct val="100000"/>
              <a:buFont typeface="Calibri" panose="020F0502020204030204" pitchFamily="34" charset="0"/>
              <a:buChar char=" "/>
              <a:defRPr sz="2400"/>
            </a:pPr>
            <a:r>
              <a:rPr lang="en-US" sz="2400" dirty="0"/>
              <a:t>4. </a:t>
            </a:r>
            <a:r>
              <a:rPr lang="zh-CN" altLang="en-US" sz="2400" dirty="0"/>
              <a:t>頁面操作層</a:t>
            </a:r>
            <a:r>
              <a:rPr lang="en-US" altLang="zh-CN" sz="2400" dirty="0"/>
              <a:t>(Page Layer)</a:t>
            </a:r>
          </a:p>
          <a:p>
            <a:pPr marL="457200" lvl="3" indent="-91440">
              <a:spcBef>
                <a:spcPts val="1200"/>
              </a:spcBef>
              <a:spcAft>
                <a:spcPts val="200"/>
              </a:spcAft>
              <a:buSzPct val="100000"/>
              <a:buFont typeface="Calibri" panose="020F0502020204030204" pitchFamily="34" charset="0"/>
              <a:buChar char=" "/>
              <a:defRPr sz="2400"/>
            </a:pPr>
            <a:r>
              <a:rPr lang="en-CA" altLang="zh-TW" sz="2000" dirty="0"/>
              <a:t>web/mobile/desktop </a:t>
            </a:r>
            <a:r>
              <a:rPr lang="zh-TW" altLang="en-US" sz="2000" dirty="0"/>
              <a:t>頁面操作</a:t>
            </a:r>
            <a:endParaRPr lang="en-US" altLang="zh-CN" sz="2000" dirty="0"/>
          </a:p>
          <a:p>
            <a:pPr marL="91440" lvl="1" indent="-91440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SzPct val="100000"/>
              <a:buFont typeface="Calibri" panose="020F0502020204030204" pitchFamily="34" charset="0"/>
              <a:buChar char=" "/>
              <a:defRPr sz="2400"/>
            </a:pPr>
            <a:r>
              <a:rPr lang="en-US" dirty="0"/>
              <a:t>5</a:t>
            </a:r>
            <a:r>
              <a:rPr dirty="0"/>
              <a:t>. </a:t>
            </a:r>
            <a:r>
              <a:rPr dirty="0" err="1"/>
              <a:t>基礎操作層</a:t>
            </a:r>
            <a:r>
              <a:rPr dirty="0"/>
              <a:t> (Base Layer)</a:t>
            </a:r>
          </a:p>
          <a:p>
            <a:pPr lvl="1">
              <a:defRPr sz="2400"/>
            </a:pPr>
            <a:r>
              <a:rPr dirty="0"/>
              <a:t>Smart Click Engine (AI/OCR/CV)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技術亮點 I - Excel 關鍵字驅動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實現「寫 Excel 即寫腳本」</a:t>
            </a:r>
          </a:p>
          <a:p>
            <a:pPr>
              <a:defRPr sz="2400"/>
            </a:pPr>
            <a:endParaRPr/>
          </a:p>
          <a:p>
            <a:pPr>
              <a:defRPr sz="2400"/>
            </a:pPr>
            <a:r>
              <a:t>運作原理：</a:t>
            </a:r>
          </a:p>
          <a:p>
            <a:pPr lvl="1">
              <a:defRPr sz="2400"/>
            </a:pPr>
            <a:r>
              <a:t>讀取 FlowName 與 Params</a:t>
            </a:r>
          </a:p>
          <a:p>
            <a:pPr lvl="1">
              <a:defRPr sz="2400"/>
            </a:pPr>
            <a:r>
              <a:t>透過反射機制 (Reflection) 動態呼叫 Python</a:t>
            </a:r>
          </a:p>
          <a:p>
            <a:pPr>
              <a:defRPr sz="2400"/>
            </a:pPr>
            <a:r>
              <a:t>優勢：</a:t>
            </a:r>
          </a:p>
          <a:p>
            <a:pPr lvl="1">
              <a:defRPr sz="2400"/>
            </a:pPr>
            <a:r>
              <a:t>新增測試案例無需修改程式碼</a:t>
            </a:r>
          </a:p>
          <a:p>
            <a:pPr lvl="1">
              <a:defRPr sz="2400"/>
            </a:pPr>
            <a:r>
              <a:t>測試資產可由非開發人員維護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技術亮點 II - 智能混合辨識 (Smart Click)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解決「定位失敗」的多層級保底策略：</a:t>
            </a:r>
          </a:p>
          <a:p>
            <a:pPr>
              <a:defRPr sz="2400"/>
            </a:pPr>
            <a:endParaRPr/>
          </a:p>
          <a:p>
            <a:pPr>
              <a:defRPr sz="2400"/>
            </a:pPr>
            <a:r>
              <a:t>Level 1: AI 視覺理解 (VLM)</a:t>
            </a:r>
          </a:p>
          <a:p>
            <a:pPr lvl="1">
              <a:defRPr sz="2400"/>
            </a:pPr>
            <a:r>
              <a:t>使用本地大模型 (Ollama/LLaVA) 理解自然語言</a:t>
            </a:r>
          </a:p>
          <a:p>
            <a:pPr>
              <a:defRPr sz="2400"/>
            </a:pPr>
            <a:r>
              <a:t>Level 2: 圖像特徵比對 (OpenCV)</a:t>
            </a:r>
          </a:p>
          <a:p>
            <a:pPr>
              <a:defRPr sz="2400"/>
            </a:pPr>
            <a:r>
              <a:t>Level 3: OCR 文字辨識 (PaddleOCR)</a:t>
            </a:r>
          </a:p>
          <a:p>
            <a:pPr>
              <a:defRPr sz="2400"/>
            </a:pPr>
            <a:r>
              <a:t>Level 4: 自學習座標保底 (Coordinate Fallback)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技術亮點 III - 可視化報告與除錯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HTML 互動式報告 (類似 Allure/UFT)：</a:t>
            </a:r>
          </a:p>
          <a:p>
            <a:pPr>
              <a:defRPr sz="2400"/>
            </a:pPr>
            <a:endParaRPr/>
          </a:p>
          <a:p>
            <a:pPr>
              <a:defRPr sz="2400"/>
            </a:pPr>
            <a:r>
              <a:t>智慧標註截圖：</a:t>
            </a:r>
          </a:p>
          <a:p>
            <a:pPr lvl="1">
              <a:defRPr sz="2400"/>
            </a:pPr>
            <a:r>
              <a:t>自動繪製紅框/綠框，標示 AI 識別位置</a:t>
            </a:r>
          </a:p>
          <a:p>
            <a:pPr lvl="1">
              <a:defRPr sz="2400"/>
            </a:pPr>
            <a:r>
              <a:t>展示「預期點擊」與「實際識別」差異</a:t>
            </a:r>
          </a:p>
          <a:p>
            <a:pPr>
              <a:defRPr sz="2400"/>
            </a:pPr>
            <a:r>
              <a:t>失敗現場還原：</a:t>
            </a:r>
          </a:p>
          <a:p>
            <a:pPr lvl="1">
              <a:defRPr sz="2400"/>
            </a:pPr>
            <a:r>
              <a:t>自動保存 Terminal Log 與全螢幕截圖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開發者體驗 - GUI 啟動器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讓自動化觸手可及</a:t>
            </a:r>
          </a:p>
          <a:p>
            <a:pPr>
              <a:defRPr sz="2400"/>
            </a:pPr>
            <a:endParaRPr/>
          </a:p>
          <a:p>
            <a:pPr>
              <a:defRPr sz="2400"/>
            </a:pPr>
            <a:r>
              <a:t>Tkinter GUI 工具 (test_case_launcher.py)：</a:t>
            </a:r>
          </a:p>
          <a:p>
            <a:pPr lvl="1">
              <a:defRPr sz="2400"/>
            </a:pPr>
            <a:r>
              <a:t>自動掃描 Excel 測試計畫</a:t>
            </a:r>
          </a:p>
          <a:p>
            <a:pPr lvl="1">
              <a:defRPr sz="2400"/>
            </a:pPr>
            <a:r>
              <a:t>勾選介面，支援批量執行</a:t>
            </a:r>
          </a:p>
          <a:p>
            <a:pPr lvl="1">
              <a:defRPr sz="2400"/>
            </a:pPr>
            <a:r>
              <a:t>多執行緒設計，介面不卡頓</a:t>
            </a:r>
          </a:p>
          <a:p>
            <a:pPr>
              <a:defRPr sz="2400"/>
            </a:pPr>
            <a:r>
              <a:t>部署優勢：</a:t>
            </a:r>
          </a:p>
          <a:p>
            <a:pPr lvl="1">
              <a:defRPr sz="2400"/>
            </a:pPr>
            <a:r>
              <a:t>可打包為 .exe，無 Python 環境也能執行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總結與成效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跨平台整合：</a:t>
            </a:r>
          </a:p>
          <a:p>
            <a:pPr lvl="1">
              <a:defRPr sz="2400"/>
            </a:pPr>
            <a:r>
              <a:t>Desktop, Web, Mobile 統一架構</a:t>
            </a:r>
          </a:p>
          <a:p>
            <a:pPr>
              <a:defRPr sz="2400"/>
            </a:pPr>
            <a:r>
              <a:t>穩定性提升：</a:t>
            </a:r>
          </a:p>
          <a:p>
            <a:pPr lvl="1">
              <a:defRPr sz="2400"/>
            </a:pPr>
            <a:r>
              <a:t>AI 輔助大幅降低 Flaky Tests</a:t>
            </a:r>
          </a:p>
          <a:p>
            <a:pPr>
              <a:defRPr sz="2400"/>
            </a:pPr>
            <a:r>
              <a:t>維護效率：</a:t>
            </a:r>
          </a:p>
          <a:p>
            <a:pPr lvl="1">
              <a:defRPr sz="2400"/>
            </a:pPr>
            <a:r>
              <a:t>修改時間從「小時級」縮短至「分鐘級」</a:t>
            </a:r>
          </a:p>
          <a:p>
            <a:pPr>
              <a:defRPr sz="2400"/>
            </a:pPr>
            <a:endParaRPr/>
          </a:p>
          <a:p>
            <a:pPr>
              <a:defRPr sz="2400"/>
            </a:pPr>
            <a:r>
              <a:t>未來展望：接入 GPT-4o 提升辨識速度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回顧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回顧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回顧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15</TotalTime>
  <Words>323</Words>
  <Application>Microsoft Office PowerPoint</Application>
  <PresentationFormat>如螢幕大小 (4:3)</PresentationFormat>
  <Paragraphs>72</Paragraphs>
  <Slides>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1" baseType="lpstr">
      <vt:lpstr>Calibri</vt:lpstr>
      <vt:lpstr>Calibri Light</vt:lpstr>
      <vt:lpstr>回顧</vt:lpstr>
      <vt:lpstr>自動化測試框架 Excel 驅動與 AI 視覺整合</vt:lpstr>
      <vt:lpstr>面臨挑戰與設計目標</vt:lpstr>
      <vt:lpstr>核心架構 (Architecture)</vt:lpstr>
      <vt:lpstr>技術亮點 I - Excel 關鍵字驅動</vt:lpstr>
      <vt:lpstr>技術亮點 II - 智能混合辨識 (Smart Click)</vt:lpstr>
      <vt:lpstr>技術亮點 III - 可視化報告與除錯</vt:lpstr>
      <vt:lpstr>開發者體驗 - GUI 啟動器</vt:lpstr>
      <vt:lpstr>總結與成效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CHENGLUN FAN</cp:lastModifiedBy>
  <cp:revision>3</cp:revision>
  <dcterms:created xsi:type="dcterms:W3CDTF">2013-01-27T09:14:16Z</dcterms:created>
  <dcterms:modified xsi:type="dcterms:W3CDTF">2026-01-23T05:04:26Z</dcterms:modified>
  <cp:category/>
</cp:coreProperties>
</file>