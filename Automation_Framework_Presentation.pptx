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41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4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06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6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2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8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4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5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8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3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45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sz="5400" dirty="0" err="1"/>
              <a:t>自動化測試框架</a:t>
            </a:r>
            <a:endParaRPr sz="5400" dirty="0"/>
          </a:p>
          <a:p>
            <a:pPr algn="ctr"/>
            <a:r>
              <a:rPr sz="5400" dirty="0"/>
              <a:t>Excel </a:t>
            </a:r>
            <a:r>
              <a:rPr sz="5400" dirty="0" err="1"/>
              <a:t>驅動與</a:t>
            </a:r>
            <a:r>
              <a:rPr sz="5400" dirty="0"/>
              <a:t> AI </a:t>
            </a:r>
            <a:r>
              <a:rPr sz="5400" dirty="0" err="1"/>
              <a:t>視覺整合</a:t>
            </a:r>
            <a:endParaRPr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基於</a:t>
            </a:r>
            <a:r>
              <a:rPr dirty="0"/>
              <a:t> Python </a:t>
            </a:r>
            <a:r>
              <a:rPr dirty="0" err="1"/>
              <a:t>的多平台</a:t>
            </a:r>
            <a:r>
              <a:rPr dirty="0"/>
              <a:t> (Desktop/Web/Mobile) </a:t>
            </a:r>
            <a:r>
              <a:rPr dirty="0" err="1"/>
              <a:t>解決方案</a:t>
            </a:r>
            <a:endParaRPr dirty="0"/>
          </a:p>
          <a:p>
            <a:endParaRPr dirty="0"/>
          </a:p>
          <a:p>
            <a:r>
              <a:rPr dirty="0" err="1"/>
              <a:t>報告人：</a:t>
            </a:r>
            <a:r>
              <a:rPr lang="en-US" altLang="zh-CN" dirty="0" err="1"/>
              <a:t>Billy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面臨挑戰與設計目標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400"/>
            </a:pPr>
            <a:r>
              <a:t>痛點 1：測試維護成本高</a:t>
            </a:r>
          </a:p>
          <a:p>
            <a:pPr lvl="1">
              <a:defRPr sz="2400"/>
            </a:pPr>
            <a:r>
              <a:t>傳統腳本寫死在代碼中，需求變更需大量修改</a:t>
            </a:r>
          </a:p>
          <a:p>
            <a:pPr>
              <a:defRPr sz="2400"/>
            </a:pPr>
            <a:r>
              <a:t>痛點 2：桌面端自動化不穩定</a:t>
            </a:r>
          </a:p>
          <a:p>
            <a:pPr lvl="1">
              <a:defRPr sz="2400"/>
            </a:pPr>
            <a:r>
              <a:t>傳統座標/圖像比對對解析度與渲染差異容忍度低</a:t>
            </a:r>
          </a:p>
          <a:p>
            <a:pPr>
              <a:defRPr sz="2400"/>
            </a:pPr>
            <a:r>
              <a:t>痛點 3：技術門檻高</a:t>
            </a:r>
          </a:p>
          <a:p>
            <a:pPr lvl="1">
              <a:defRPr sz="2400"/>
            </a:pPr>
            <a:r>
              <a:t>非技術人員 (QA/PM) 難以參與維護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設計目標：</a:t>
            </a:r>
          </a:p>
          <a:p>
            <a:pPr lvl="1">
              <a:defRPr sz="2400"/>
            </a:pPr>
            <a:r>
              <a:t>數據驅動 (Data-Driven)</a:t>
            </a:r>
          </a:p>
          <a:p>
            <a:pPr lvl="1">
              <a:defRPr sz="2400"/>
            </a:pPr>
            <a:r>
              <a:t>高魯棒性 (Robustness, AI 輔助)</a:t>
            </a:r>
          </a:p>
          <a:p>
            <a:pPr lvl="1">
              <a:defRPr sz="2400"/>
            </a:pPr>
            <a:r>
              <a:t>低門檻 (Excel + GUI)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核心架構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400"/>
            </a:pPr>
            <a:r>
              <a:rPr dirty="0"/>
              <a:t>1. </a:t>
            </a:r>
            <a:r>
              <a:rPr dirty="0" err="1"/>
              <a:t>測試定義層</a:t>
            </a:r>
            <a:r>
              <a:rPr dirty="0"/>
              <a:t> (Definition Layer)</a:t>
            </a:r>
          </a:p>
          <a:p>
            <a:pPr lvl="1">
              <a:defRPr sz="2400"/>
            </a:pPr>
            <a:r>
              <a:rPr dirty="0"/>
              <a:t>Excel (TestPlan.xlsx): </a:t>
            </a:r>
            <a:r>
              <a:rPr dirty="0" err="1"/>
              <a:t>定義步驟與參數</a:t>
            </a:r>
            <a:endParaRPr dirty="0"/>
          </a:p>
          <a:p>
            <a:pPr>
              <a:defRPr sz="2400"/>
            </a:pPr>
            <a:r>
              <a:rPr dirty="0"/>
              <a:t>2. </a:t>
            </a:r>
            <a:r>
              <a:rPr dirty="0" err="1"/>
              <a:t>執行引擎層</a:t>
            </a:r>
            <a:r>
              <a:rPr dirty="0"/>
              <a:t> (Engine Layer)</a:t>
            </a:r>
          </a:p>
          <a:p>
            <a:pPr lvl="1">
              <a:defRPr sz="2400"/>
            </a:pPr>
            <a:r>
              <a:rPr dirty="0" err="1"/>
              <a:t>TestRunner</a:t>
            </a:r>
            <a:r>
              <a:rPr dirty="0"/>
              <a:t>: </a:t>
            </a:r>
            <a:r>
              <a:rPr dirty="0" err="1"/>
              <a:t>調度核心</a:t>
            </a:r>
            <a:r>
              <a:rPr dirty="0"/>
              <a:t> (</a:t>
            </a:r>
            <a:r>
              <a:rPr dirty="0" err="1"/>
              <a:t>Pytest</a:t>
            </a:r>
            <a:r>
              <a:rPr dirty="0"/>
              <a:t>)</a:t>
            </a:r>
          </a:p>
          <a:p>
            <a:pPr lvl="1">
              <a:defRPr sz="2400"/>
            </a:pPr>
            <a:r>
              <a:rPr dirty="0" err="1"/>
              <a:t>StepTranslator</a:t>
            </a:r>
            <a:r>
              <a:rPr dirty="0"/>
              <a:t>: </a:t>
            </a:r>
            <a:r>
              <a:rPr dirty="0" err="1"/>
              <a:t>關鍵字翻譯器</a:t>
            </a:r>
            <a:endParaRPr dirty="0"/>
          </a:p>
          <a:p>
            <a:pPr>
              <a:defRPr sz="2400"/>
            </a:pPr>
            <a:r>
              <a:rPr dirty="0"/>
              <a:t>3</a:t>
            </a:r>
            <a:r>
              <a:rPr sz="2400" dirty="0"/>
              <a:t>. </a:t>
            </a:r>
            <a:r>
              <a:rPr sz="2400" dirty="0" err="1"/>
              <a:t>業務邏輯層</a:t>
            </a:r>
            <a:r>
              <a:rPr sz="2400" dirty="0"/>
              <a:t> (Action Layer)</a:t>
            </a:r>
          </a:p>
          <a:p>
            <a:pPr lvl="1">
              <a:defRPr sz="2400"/>
            </a:pPr>
            <a:r>
              <a:rPr dirty="0" err="1"/>
              <a:t>NxPocActions</a:t>
            </a:r>
            <a:r>
              <a:rPr dirty="0"/>
              <a:t>, </a:t>
            </a:r>
            <a:r>
              <a:rPr dirty="0" err="1"/>
              <a:t>NxMobileActions</a:t>
            </a:r>
            <a:endParaRPr lang="en-US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defRPr sz="2400"/>
            </a:pPr>
            <a:r>
              <a:rPr lang="en-US" sz="2400" dirty="0"/>
              <a:t>4. </a:t>
            </a:r>
            <a:r>
              <a:rPr lang="zh-CN" altLang="en-US" sz="2400" dirty="0"/>
              <a:t>頁面操作層</a:t>
            </a:r>
            <a:r>
              <a:rPr lang="en-US" altLang="zh-CN" sz="2400" dirty="0"/>
              <a:t>(Page Layer)</a:t>
            </a:r>
          </a:p>
          <a:p>
            <a:pPr marL="457200" lvl="3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defRPr sz="2400"/>
            </a:pPr>
            <a:r>
              <a:rPr lang="en-CA" altLang="zh-TW" sz="2000" dirty="0"/>
              <a:t>web/mobile/desktop </a:t>
            </a:r>
            <a:r>
              <a:rPr lang="zh-TW" altLang="en-US" sz="2000" dirty="0"/>
              <a:t>頁面操作</a:t>
            </a:r>
            <a:endParaRPr lang="en-US" altLang="zh-CN" sz="2000" dirty="0"/>
          </a:p>
          <a:p>
            <a:pPr marL="91440" lvl="1" indent="-9144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defRPr sz="2400"/>
            </a:pPr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基礎操作層</a:t>
            </a:r>
            <a:r>
              <a:rPr dirty="0"/>
              <a:t> (Base Layer)</a:t>
            </a:r>
          </a:p>
          <a:p>
            <a:pPr lvl="1">
              <a:defRPr sz="2400"/>
            </a:pPr>
            <a:r>
              <a:rPr dirty="0"/>
              <a:t>Smart Click Engine (AI/OCR/CV)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技術亮點 I - Excel 關鍵字驅動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實現「寫 Excel 即寫腳本」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運作原理：</a:t>
            </a:r>
          </a:p>
          <a:p>
            <a:pPr lvl="1">
              <a:defRPr sz="2400"/>
            </a:pPr>
            <a:r>
              <a:t>讀取 FlowName 與 Params</a:t>
            </a:r>
          </a:p>
          <a:p>
            <a:pPr lvl="1">
              <a:defRPr sz="2400"/>
            </a:pPr>
            <a:r>
              <a:t>透過反射機制 (Reflection) 動態呼叫 Python</a:t>
            </a:r>
          </a:p>
          <a:p>
            <a:pPr>
              <a:defRPr sz="2400"/>
            </a:pPr>
            <a:r>
              <a:t>優勢：</a:t>
            </a:r>
          </a:p>
          <a:p>
            <a:pPr lvl="1">
              <a:defRPr sz="2400"/>
            </a:pPr>
            <a:r>
              <a:t>新增測試案例無需修改程式碼</a:t>
            </a:r>
          </a:p>
          <a:p>
            <a:pPr lvl="1">
              <a:defRPr sz="2400"/>
            </a:pPr>
            <a:r>
              <a:t>測試資產可由非開發人員維護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技術亮點 II - 智能混合辨識 (Smart Click)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解決「定位失敗」的多層級保底策略</a:t>
            </a:r>
            <a:r>
              <a:rPr dirty="0"/>
              <a:t>：</a:t>
            </a:r>
          </a:p>
          <a:p>
            <a:pPr>
              <a:defRPr sz="2400"/>
            </a:pPr>
            <a:endParaRPr dirty="0"/>
          </a:p>
          <a:p>
            <a:pPr>
              <a:defRPr sz="2400"/>
            </a:pPr>
            <a:r>
              <a:rPr dirty="0"/>
              <a:t>Level 1: AI </a:t>
            </a:r>
            <a:r>
              <a:rPr dirty="0" err="1"/>
              <a:t>視覺理解</a:t>
            </a:r>
            <a:r>
              <a:rPr dirty="0"/>
              <a:t> (VLM)</a:t>
            </a:r>
          </a:p>
          <a:p>
            <a:pPr lvl="1">
              <a:defRPr sz="2400"/>
            </a:pPr>
            <a:r>
              <a:rPr dirty="0" err="1"/>
              <a:t>使用本地大模型</a:t>
            </a:r>
            <a:r>
              <a:rPr dirty="0"/>
              <a:t> (</a:t>
            </a:r>
            <a:r>
              <a:rPr dirty="0" err="1"/>
              <a:t>Ollama</a:t>
            </a:r>
            <a:r>
              <a:rPr dirty="0"/>
              <a:t>/</a:t>
            </a:r>
            <a:r>
              <a:rPr dirty="0" err="1"/>
              <a:t>LLaVA</a:t>
            </a:r>
            <a:r>
              <a:rPr dirty="0"/>
              <a:t>) </a:t>
            </a:r>
            <a:r>
              <a:rPr dirty="0" err="1"/>
              <a:t>理解自然語言</a:t>
            </a:r>
            <a:endParaRPr dirty="0"/>
          </a:p>
          <a:p>
            <a:pPr>
              <a:defRPr sz="2400"/>
            </a:pPr>
            <a:r>
              <a:rPr dirty="0"/>
              <a:t>Level 2: </a:t>
            </a:r>
            <a:r>
              <a:rPr dirty="0" err="1"/>
              <a:t>圖像特徵比對</a:t>
            </a:r>
            <a:r>
              <a:rPr dirty="0"/>
              <a:t> (</a:t>
            </a:r>
            <a:r>
              <a:rPr dirty="0" err="1"/>
              <a:t>O</a:t>
            </a:r>
            <a:r>
              <a:rPr lang="en-US" altLang="zh-CN" dirty="0" err="1"/>
              <a:t>kScript</a:t>
            </a:r>
            <a:r>
              <a:rPr dirty="0"/>
              <a:t>)</a:t>
            </a:r>
          </a:p>
          <a:p>
            <a:pPr>
              <a:defRPr sz="2400"/>
            </a:pPr>
            <a:r>
              <a:rPr dirty="0"/>
              <a:t>Level 3: OCR </a:t>
            </a:r>
            <a:r>
              <a:rPr dirty="0" err="1"/>
              <a:t>文字辨識</a:t>
            </a:r>
            <a:r>
              <a:rPr dirty="0"/>
              <a:t> (</a:t>
            </a:r>
            <a:r>
              <a:rPr dirty="0" err="1"/>
              <a:t>PaddleOCR</a:t>
            </a:r>
            <a:r>
              <a:rPr dirty="0"/>
              <a:t>)</a:t>
            </a:r>
          </a:p>
          <a:p>
            <a:pPr>
              <a:defRPr sz="2400"/>
            </a:pPr>
            <a:r>
              <a:rPr dirty="0"/>
              <a:t>Level 4: </a:t>
            </a:r>
            <a:r>
              <a:rPr dirty="0" err="1"/>
              <a:t>自學習座標保底</a:t>
            </a:r>
            <a:r>
              <a:rPr dirty="0"/>
              <a:t> (Coordinate Fallback)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技術亮點 III - 可視化報告與除錯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HTML </a:t>
            </a:r>
            <a:r>
              <a:rPr dirty="0" err="1"/>
              <a:t>互動式報告</a:t>
            </a:r>
            <a:r>
              <a:rPr dirty="0"/>
              <a:t> (</a:t>
            </a:r>
            <a:r>
              <a:rPr dirty="0" err="1"/>
              <a:t>類似</a:t>
            </a:r>
            <a:r>
              <a:rPr dirty="0"/>
              <a:t> Allure/UFT)：</a:t>
            </a:r>
          </a:p>
          <a:p>
            <a:pPr>
              <a:defRPr sz="2400"/>
            </a:pPr>
            <a:endParaRPr dirty="0"/>
          </a:p>
          <a:p>
            <a:pPr>
              <a:defRPr sz="2400"/>
            </a:pPr>
            <a:r>
              <a:rPr dirty="0" err="1"/>
              <a:t>智慧標註截圖</a:t>
            </a:r>
            <a:r>
              <a:rPr dirty="0"/>
              <a:t>：</a:t>
            </a:r>
          </a:p>
          <a:p>
            <a:pPr lvl="1">
              <a:defRPr sz="2400"/>
            </a:pPr>
            <a:r>
              <a:rPr dirty="0" err="1"/>
              <a:t>自動繪製紅框</a:t>
            </a:r>
            <a:r>
              <a:rPr dirty="0"/>
              <a:t>/</a:t>
            </a:r>
            <a:r>
              <a:rPr dirty="0" err="1"/>
              <a:t>綠框，標示</a:t>
            </a:r>
            <a:r>
              <a:rPr dirty="0"/>
              <a:t> AI </a:t>
            </a:r>
            <a:r>
              <a:rPr dirty="0" err="1"/>
              <a:t>識別位置</a:t>
            </a:r>
            <a:endParaRPr dirty="0"/>
          </a:p>
          <a:p>
            <a:pPr lvl="1">
              <a:defRPr sz="2400"/>
            </a:pPr>
            <a:r>
              <a:rPr dirty="0" err="1"/>
              <a:t>展示「預期點擊」與「實際識別」差異</a:t>
            </a:r>
            <a:endParaRPr dirty="0"/>
          </a:p>
          <a:p>
            <a:pPr>
              <a:defRPr sz="2400"/>
            </a:pPr>
            <a:r>
              <a:rPr dirty="0" err="1"/>
              <a:t>失敗現場還原</a:t>
            </a:r>
            <a:r>
              <a:rPr dirty="0"/>
              <a:t>：</a:t>
            </a:r>
          </a:p>
          <a:p>
            <a:pPr lvl="1">
              <a:defRPr sz="2400"/>
            </a:pPr>
            <a:r>
              <a:rPr dirty="0" err="1"/>
              <a:t>自動保存</a:t>
            </a:r>
            <a:r>
              <a:rPr dirty="0"/>
              <a:t> Terminal Log </a:t>
            </a:r>
            <a:r>
              <a:rPr dirty="0" err="1"/>
              <a:t>與全螢幕截圖</a:t>
            </a:r>
            <a:endParaRPr dirty="0"/>
          </a:p>
        </p:txBody>
      </p:sp>
      <p:pic>
        <p:nvPicPr>
          <p:cNvPr id="5" name="圖片 4" descr="一張含有 文字, 螢幕擷取畫面, 多媒體軟體, 軟體 的圖片&#10;&#10;AI 產生的內容可能不正確。">
            <a:extLst>
              <a:ext uri="{FF2B5EF4-FFF2-40B4-BE49-F238E27FC236}">
                <a16:creationId xmlns:a16="http://schemas.microsoft.com/office/drawing/2014/main" id="{29585844-BC22-C36C-B99A-2C38B656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188" y="1957151"/>
            <a:ext cx="1922572" cy="2471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開發者體驗 - GUI 啟動器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讓自動化觸手可及</a:t>
            </a:r>
            <a:endParaRPr dirty="0"/>
          </a:p>
          <a:p>
            <a:pPr>
              <a:defRPr sz="2400"/>
            </a:pPr>
            <a:endParaRPr dirty="0"/>
          </a:p>
          <a:p>
            <a:pPr>
              <a:defRPr sz="2400"/>
            </a:pPr>
            <a:r>
              <a:rPr dirty="0" err="1"/>
              <a:t>Tkinter</a:t>
            </a:r>
            <a:r>
              <a:rPr dirty="0"/>
              <a:t> GUI </a:t>
            </a:r>
            <a:r>
              <a:rPr dirty="0" err="1"/>
              <a:t>工具</a:t>
            </a:r>
            <a:r>
              <a:rPr dirty="0"/>
              <a:t> (test_case_launcher.py)：</a:t>
            </a:r>
          </a:p>
          <a:p>
            <a:pPr lvl="1">
              <a:defRPr sz="2400"/>
            </a:pPr>
            <a:r>
              <a:rPr dirty="0" err="1"/>
              <a:t>自動掃描</a:t>
            </a:r>
            <a:r>
              <a:rPr dirty="0"/>
              <a:t> Excel </a:t>
            </a:r>
            <a:r>
              <a:rPr dirty="0" err="1"/>
              <a:t>測試計畫</a:t>
            </a:r>
            <a:endParaRPr dirty="0"/>
          </a:p>
          <a:p>
            <a:pPr lvl="1">
              <a:defRPr sz="2400"/>
            </a:pPr>
            <a:r>
              <a:rPr dirty="0" err="1"/>
              <a:t>勾選介面，支援批量執行</a:t>
            </a:r>
            <a:endParaRPr dirty="0"/>
          </a:p>
          <a:p>
            <a:pPr lvl="1">
              <a:defRPr sz="2400"/>
            </a:pPr>
            <a:r>
              <a:rPr dirty="0" err="1"/>
              <a:t>多執行緒設計，介面不卡頓</a:t>
            </a:r>
            <a:endParaRPr dirty="0"/>
          </a:p>
          <a:p>
            <a:pPr>
              <a:defRPr sz="2400"/>
            </a:pPr>
            <a:r>
              <a:rPr dirty="0" err="1"/>
              <a:t>部署優勢</a:t>
            </a:r>
            <a:r>
              <a:rPr dirty="0"/>
              <a:t>：</a:t>
            </a:r>
          </a:p>
          <a:p>
            <a:pPr lvl="1">
              <a:defRPr sz="2400"/>
            </a:pPr>
            <a:r>
              <a:rPr dirty="0" err="1"/>
              <a:t>可打包為</a:t>
            </a:r>
            <a:r>
              <a:rPr dirty="0"/>
              <a:t> .</a:t>
            </a:r>
            <a:r>
              <a:rPr dirty="0" err="1"/>
              <a:t>exe，無</a:t>
            </a:r>
            <a:r>
              <a:rPr dirty="0"/>
              <a:t> Python </a:t>
            </a:r>
            <a:r>
              <a:rPr dirty="0" err="1"/>
              <a:t>環境也能執行</a:t>
            </a:r>
            <a:endParaRPr dirty="0"/>
          </a:p>
        </p:txBody>
      </p:sp>
      <p:pic>
        <p:nvPicPr>
          <p:cNvPr id="5" name="圖片 4" descr="一張含有 文字, 電子產品, 螢幕擷取畫面, 陳列 的圖片&#10;&#10;AI 產生的內容可能不正確。">
            <a:extLst>
              <a:ext uri="{FF2B5EF4-FFF2-40B4-BE49-F238E27FC236}">
                <a16:creationId xmlns:a16="http://schemas.microsoft.com/office/drawing/2014/main" id="{0CC9193C-1DDE-1151-C57B-779E46D8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142" y="2805199"/>
            <a:ext cx="2191303" cy="2022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總結與成效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跨平台整合：</a:t>
            </a:r>
          </a:p>
          <a:p>
            <a:pPr lvl="1">
              <a:defRPr sz="2400"/>
            </a:pPr>
            <a:r>
              <a:t>Desktop, Web, Mobile 統一架構</a:t>
            </a:r>
          </a:p>
          <a:p>
            <a:pPr>
              <a:defRPr sz="2400"/>
            </a:pPr>
            <a:r>
              <a:t>穩定性提升：</a:t>
            </a:r>
          </a:p>
          <a:p>
            <a:pPr lvl="1">
              <a:defRPr sz="2400"/>
            </a:pPr>
            <a:r>
              <a:t>AI 輔助大幅降低 Flaky Tests</a:t>
            </a:r>
          </a:p>
          <a:p>
            <a:pPr>
              <a:defRPr sz="2400"/>
            </a:pPr>
            <a:r>
              <a:t>維護效率：</a:t>
            </a:r>
          </a:p>
          <a:p>
            <a:pPr lvl="1">
              <a:defRPr sz="2400"/>
            </a:pPr>
            <a:r>
              <a:t>修改時間從「小時級」縮短至「分鐘級」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未來展望：接入 GPT-4o 提升辨識速度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</TotalTime>
  <Words>324</Words>
  <Application>Microsoft Office PowerPoint</Application>
  <PresentationFormat>如螢幕大小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回顧</vt:lpstr>
      <vt:lpstr>自動化測試框架 Excel 驅動與 AI 視覺整合</vt:lpstr>
      <vt:lpstr>面臨挑戰與設計目標</vt:lpstr>
      <vt:lpstr>核心架構 (Architecture)</vt:lpstr>
      <vt:lpstr>技術亮點 I - Excel 關鍵字驅動</vt:lpstr>
      <vt:lpstr>技術亮點 II - 智能混合辨識 (Smart Click)</vt:lpstr>
      <vt:lpstr>技術亮點 III - 可視化報告與除錯</vt:lpstr>
      <vt:lpstr>開發者體驗 - GUI 啟動器</vt:lpstr>
      <vt:lpstr>總結與成效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CHENGLUN FAN</cp:lastModifiedBy>
  <cp:revision>4</cp:revision>
  <dcterms:created xsi:type="dcterms:W3CDTF">2013-01-27T09:14:16Z</dcterms:created>
  <dcterms:modified xsi:type="dcterms:W3CDTF">2026-01-23T07:02:06Z</dcterms:modified>
  <cp:category/>
</cp:coreProperties>
</file>